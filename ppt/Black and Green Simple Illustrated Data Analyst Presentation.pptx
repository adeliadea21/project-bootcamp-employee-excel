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Anton" pitchFamily="2" charset="0"/>
      <p:regular r:id="rId15"/>
    </p:embeddedFont>
    <p:embeddedFont>
      <p:font typeface="Arial" panose="020B0604020202020204" pitchFamily="34" charset="0"/>
      <p:regular r:id="rId16"/>
    </p:embeddedFont>
    <p:embeddedFont>
      <p:font typeface="Arial Bold" panose="020B0704020202020204" pitchFamily="34" charset="0"/>
      <p:regular r:id="rId17"/>
      <p:bold r:id="rId18"/>
    </p:embeddedFont>
    <p:embeddedFont>
      <p:font typeface="Calibri" panose="020F050202020403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868"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0A04"/>
        </a:solidFill>
        <a:effectLst/>
      </p:bgPr>
    </p:bg>
    <p:spTree>
      <p:nvGrpSpPr>
        <p:cNvPr id="1" name=""/>
        <p:cNvGrpSpPr/>
        <p:nvPr/>
      </p:nvGrpSpPr>
      <p:grpSpPr>
        <a:xfrm>
          <a:off x="0" y="0"/>
          <a:ext cx="0" cy="0"/>
          <a:chOff x="0" y="0"/>
          <a:chExt cx="0" cy="0"/>
        </a:xfrm>
      </p:grpSpPr>
      <p:grpSp>
        <p:nvGrpSpPr>
          <p:cNvPr id="2" name="Group 2"/>
          <p:cNvGrpSpPr/>
          <p:nvPr/>
        </p:nvGrpSpPr>
        <p:grpSpPr>
          <a:xfrm>
            <a:off x="11199126" y="1101564"/>
            <a:ext cx="1115080" cy="622789"/>
            <a:chOff x="0" y="0"/>
            <a:chExt cx="293684" cy="164027"/>
          </a:xfrm>
        </p:grpSpPr>
        <p:sp>
          <p:nvSpPr>
            <p:cNvPr id="3" name="Freeform 3"/>
            <p:cNvSpPr/>
            <p:nvPr/>
          </p:nvSpPr>
          <p:spPr>
            <a:xfrm>
              <a:off x="0" y="0"/>
              <a:ext cx="293684" cy="164027"/>
            </a:xfrm>
            <a:custGeom>
              <a:avLst/>
              <a:gdLst/>
              <a:ahLst/>
              <a:cxnLst/>
              <a:rect l="l" t="t" r="r" b="b"/>
              <a:pathLst>
                <a:path w="293684" h="164027">
                  <a:moveTo>
                    <a:pt x="82013" y="0"/>
                  </a:moveTo>
                  <a:lnTo>
                    <a:pt x="211670" y="0"/>
                  </a:lnTo>
                  <a:cubicBezTo>
                    <a:pt x="256965" y="0"/>
                    <a:pt x="293684" y="36719"/>
                    <a:pt x="293684" y="82013"/>
                  </a:cubicBezTo>
                  <a:lnTo>
                    <a:pt x="293684" y="82013"/>
                  </a:lnTo>
                  <a:cubicBezTo>
                    <a:pt x="293684" y="127308"/>
                    <a:pt x="256965" y="164027"/>
                    <a:pt x="211670" y="164027"/>
                  </a:cubicBezTo>
                  <a:lnTo>
                    <a:pt x="82013" y="164027"/>
                  </a:lnTo>
                  <a:cubicBezTo>
                    <a:pt x="36719" y="164027"/>
                    <a:pt x="0" y="127308"/>
                    <a:pt x="0" y="82013"/>
                  </a:cubicBezTo>
                  <a:lnTo>
                    <a:pt x="0" y="82013"/>
                  </a:lnTo>
                  <a:cubicBezTo>
                    <a:pt x="0" y="36719"/>
                    <a:pt x="36719" y="0"/>
                    <a:pt x="82013" y="0"/>
                  </a:cubicBezTo>
                  <a:close/>
                </a:path>
              </a:pathLst>
            </a:custGeom>
            <a:ln w="19050" cap="rnd">
              <a:solidFill>
                <a:srgbClr val="77B254"/>
              </a:solidFill>
              <a:prstDash val="solid"/>
              <a:round/>
            </a:ln>
          </p:spPr>
        </p:sp>
        <p:sp>
          <p:nvSpPr>
            <p:cNvPr id="4" name="TextBox 4"/>
            <p:cNvSpPr txBox="1"/>
            <p:nvPr/>
          </p:nvSpPr>
          <p:spPr>
            <a:xfrm>
              <a:off x="0" y="-47625"/>
              <a:ext cx="293684" cy="21165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1746779" y="2994419"/>
            <a:ext cx="5432313" cy="6290047"/>
          </a:xfrm>
          <a:custGeom>
            <a:avLst/>
            <a:gdLst/>
            <a:ahLst/>
            <a:cxnLst/>
            <a:rect l="l" t="t" r="r" b="b"/>
            <a:pathLst>
              <a:path w="5432313" h="6290047">
                <a:moveTo>
                  <a:pt x="0" y="0"/>
                </a:moveTo>
                <a:lnTo>
                  <a:pt x="5432313" y="0"/>
                </a:lnTo>
                <a:lnTo>
                  <a:pt x="5432313" y="6290046"/>
                </a:lnTo>
                <a:lnTo>
                  <a:pt x="0" y="62900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028700" y="1089444"/>
            <a:ext cx="6771457" cy="4824094"/>
          </a:xfrm>
          <a:prstGeom prst="rect">
            <a:avLst/>
          </a:prstGeom>
        </p:spPr>
        <p:txBody>
          <a:bodyPr lIns="0" tIns="0" rIns="0" bIns="0" rtlCol="0" anchor="t">
            <a:spAutoFit/>
          </a:bodyPr>
          <a:lstStyle/>
          <a:p>
            <a:pPr algn="l">
              <a:lnSpc>
                <a:spcPts val="12880"/>
              </a:lnSpc>
            </a:pPr>
            <a:r>
              <a:rPr lang="en-US" sz="9200" dirty="0">
                <a:solidFill>
                  <a:srgbClr val="C1E59F"/>
                </a:solidFill>
                <a:latin typeface="Anton"/>
                <a:ea typeface="Anton"/>
                <a:cs typeface="Anton"/>
                <a:sym typeface="Anton"/>
              </a:rPr>
              <a:t>EMPLOYEE PERFORMANCE ANALYSIS</a:t>
            </a:r>
          </a:p>
        </p:txBody>
      </p:sp>
      <p:sp>
        <p:nvSpPr>
          <p:cNvPr id="7" name="TextBox 7"/>
          <p:cNvSpPr txBox="1"/>
          <p:nvPr/>
        </p:nvSpPr>
        <p:spPr>
          <a:xfrm>
            <a:off x="11237226"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8" name="TextBox 8"/>
          <p:cNvSpPr txBox="1"/>
          <p:nvPr/>
        </p:nvSpPr>
        <p:spPr>
          <a:xfrm>
            <a:off x="13480424"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9" name="TextBox 9"/>
          <p:cNvSpPr txBox="1"/>
          <p:nvPr/>
        </p:nvSpPr>
        <p:spPr>
          <a:xfrm>
            <a:off x="15458039" y="1213269"/>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10" name="TextBox 10"/>
          <p:cNvSpPr txBox="1"/>
          <p:nvPr/>
        </p:nvSpPr>
        <p:spPr>
          <a:xfrm>
            <a:off x="1020562" y="8411999"/>
            <a:ext cx="1903818" cy="365760"/>
          </a:xfrm>
          <a:prstGeom prst="rect">
            <a:avLst/>
          </a:prstGeom>
        </p:spPr>
        <p:txBody>
          <a:bodyPr lIns="0" tIns="0" rIns="0" bIns="0" rtlCol="0" anchor="t">
            <a:spAutoFit/>
          </a:bodyPr>
          <a:lstStyle/>
          <a:p>
            <a:pPr algn="l">
              <a:lnSpc>
                <a:spcPts val="2940"/>
              </a:lnSpc>
            </a:pPr>
            <a:r>
              <a:rPr lang="en-US" sz="2100">
                <a:solidFill>
                  <a:srgbClr val="C1E59F"/>
                </a:solidFill>
                <a:latin typeface="Arial"/>
                <a:ea typeface="Arial"/>
                <a:cs typeface="Arial"/>
                <a:sym typeface="Arial"/>
              </a:rPr>
              <a:t>Prepared by</a:t>
            </a:r>
          </a:p>
        </p:txBody>
      </p:sp>
      <p:sp>
        <p:nvSpPr>
          <p:cNvPr id="11" name="TextBox 11"/>
          <p:cNvSpPr txBox="1"/>
          <p:nvPr/>
        </p:nvSpPr>
        <p:spPr>
          <a:xfrm>
            <a:off x="1028700" y="8751089"/>
            <a:ext cx="2504402" cy="1216026"/>
          </a:xfrm>
          <a:prstGeom prst="rect">
            <a:avLst/>
          </a:prstGeom>
        </p:spPr>
        <p:txBody>
          <a:bodyPr lIns="0" tIns="0" rIns="0" bIns="0" rtlCol="0" anchor="t">
            <a:spAutoFit/>
          </a:bodyPr>
          <a:lstStyle/>
          <a:p>
            <a:pPr algn="l">
              <a:lnSpc>
                <a:spcPts val="4899"/>
              </a:lnSpc>
            </a:pPr>
            <a:r>
              <a:rPr lang="en-US" sz="3499">
                <a:solidFill>
                  <a:srgbClr val="C1E59F"/>
                </a:solidFill>
                <a:latin typeface="Anton"/>
                <a:ea typeface="Anton"/>
                <a:cs typeface="Anton"/>
                <a:sym typeface="Anton"/>
              </a:rPr>
              <a:t>ADEL</a:t>
            </a:r>
          </a:p>
          <a:p>
            <a:pPr algn="l">
              <a:lnSpc>
                <a:spcPts val="4899"/>
              </a:lnSpc>
            </a:pPr>
            <a:endParaRPr lang="en-US" sz="3499">
              <a:solidFill>
                <a:srgbClr val="C1E59F"/>
              </a:solidFill>
              <a:latin typeface="Anton"/>
              <a:ea typeface="Anton"/>
              <a:cs typeface="Anton"/>
              <a:sym typeface="Anton"/>
            </a:endParaRPr>
          </a:p>
        </p:txBody>
      </p:sp>
      <p:sp>
        <p:nvSpPr>
          <p:cNvPr id="12" name="TextBox 12"/>
          <p:cNvSpPr txBox="1"/>
          <p:nvPr/>
        </p:nvSpPr>
        <p:spPr>
          <a:xfrm>
            <a:off x="1028700" y="6011173"/>
            <a:ext cx="8646053" cy="537845"/>
          </a:xfrm>
          <a:prstGeom prst="rect">
            <a:avLst/>
          </a:prstGeom>
        </p:spPr>
        <p:txBody>
          <a:bodyPr lIns="0" tIns="0" rIns="0" bIns="0" rtlCol="0" anchor="t">
            <a:spAutoFit/>
          </a:bodyPr>
          <a:lstStyle/>
          <a:p>
            <a:pPr algn="l">
              <a:lnSpc>
                <a:spcPts val="4480"/>
              </a:lnSpc>
            </a:pPr>
            <a:r>
              <a:rPr lang="en-US" sz="3200">
                <a:solidFill>
                  <a:srgbClr val="C1E59F"/>
                </a:solidFill>
                <a:latin typeface="Anton"/>
                <a:ea typeface="Anton"/>
                <a:cs typeface="Anton"/>
                <a:sym typeface="Anton"/>
              </a:rPr>
              <a:t>TURNING DATA INTO ACTIONABLE INSIGHTS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1115177" y="1072989"/>
            <a:ext cx="1263779" cy="663528"/>
            <a:chOff x="0" y="0"/>
            <a:chExt cx="332847" cy="174756"/>
          </a:xfrm>
        </p:grpSpPr>
        <p:sp>
          <p:nvSpPr>
            <p:cNvPr id="3" name="Freeform 3"/>
            <p:cNvSpPr/>
            <p:nvPr/>
          </p:nvSpPr>
          <p:spPr>
            <a:xfrm>
              <a:off x="0" y="0"/>
              <a:ext cx="332847" cy="174756"/>
            </a:xfrm>
            <a:custGeom>
              <a:avLst/>
              <a:gdLst/>
              <a:ahLst/>
              <a:cxnLst/>
              <a:rect l="l" t="t" r="r" b="b"/>
              <a:pathLst>
                <a:path w="332847" h="174756">
                  <a:moveTo>
                    <a:pt x="87378" y="0"/>
                  </a:moveTo>
                  <a:lnTo>
                    <a:pt x="245469" y="0"/>
                  </a:lnTo>
                  <a:cubicBezTo>
                    <a:pt x="268643" y="0"/>
                    <a:pt x="290868" y="9206"/>
                    <a:pt x="307255" y="25592"/>
                  </a:cubicBezTo>
                  <a:cubicBezTo>
                    <a:pt x="323641" y="41979"/>
                    <a:pt x="332847" y="64204"/>
                    <a:pt x="332847" y="87378"/>
                  </a:cubicBezTo>
                  <a:lnTo>
                    <a:pt x="332847" y="87378"/>
                  </a:lnTo>
                  <a:cubicBezTo>
                    <a:pt x="332847" y="135636"/>
                    <a:pt x="293727" y="174756"/>
                    <a:pt x="245469" y="174756"/>
                  </a:cubicBezTo>
                  <a:lnTo>
                    <a:pt x="87378" y="174756"/>
                  </a:lnTo>
                  <a:cubicBezTo>
                    <a:pt x="39121" y="174756"/>
                    <a:pt x="0" y="135636"/>
                    <a:pt x="0" y="87378"/>
                  </a:cubicBezTo>
                  <a:lnTo>
                    <a:pt x="0" y="87378"/>
                  </a:lnTo>
                  <a:cubicBezTo>
                    <a:pt x="0" y="39121"/>
                    <a:pt x="39121" y="0"/>
                    <a:pt x="87378" y="0"/>
                  </a:cubicBezTo>
                  <a:close/>
                </a:path>
              </a:pathLst>
            </a:custGeom>
            <a:ln w="19050" cap="rnd">
              <a:solidFill>
                <a:srgbClr val="77B254"/>
              </a:solidFill>
              <a:prstDash val="solid"/>
              <a:round/>
            </a:ln>
          </p:spPr>
        </p:sp>
        <p:sp>
          <p:nvSpPr>
            <p:cNvPr id="4" name="TextBox 4"/>
            <p:cNvSpPr txBox="1"/>
            <p:nvPr/>
          </p:nvSpPr>
          <p:spPr>
            <a:xfrm>
              <a:off x="0" y="-38100"/>
              <a:ext cx="332847" cy="212856"/>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1237226"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6" name="TextBox 6"/>
          <p:cNvSpPr txBox="1"/>
          <p:nvPr/>
        </p:nvSpPr>
        <p:spPr>
          <a:xfrm>
            <a:off x="13480424"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7" name="TextBox 7"/>
          <p:cNvSpPr txBox="1"/>
          <p:nvPr/>
        </p:nvSpPr>
        <p:spPr>
          <a:xfrm>
            <a:off x="15458039" y="1213269"/>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8" name="TextBox 8"/>
          <p:cNvSpPr txBox="1"/>
          <p:nvPr/>
        </p:nvSpPr>
        <p:spPr>
          <a:xfrm>
            <a:off x="1028700" y="968214"/>
            <a:ext cx="7015995" cy="953135"/>
          </a:xfrm>
          <a:prstGeom prst="rect">
            <a:avLst/>
          </a:prstGeom>
        </p:spPr>
        <p:txBody>
          <a:bodyPr lIns="0" tIns="0" rIns="0" bIns="0" rtlCol="0" anchor="t">
            <a:spAutoFit/>
          </a:bodyPr>
          <a:lstStyle/>
          <a:p>
            <a:pPr algn="l">
              <a:lnSpc>
                <a:spcPts val="7840"/>
              </a:lnSpc>
            </a:pPr>
            <a:r>
              <a:rPr lang="en-US" sz="5600">
                <a:solidFill>
                  <a:srgbClr val="C1E59F"/>
                </a:solidFill>
                <a:latin typeface="Anton"/>
                <a:ea typeface="Anton"/>
                <a:cs typeface="Anton"/>
                <a:sym typeface="Anton"/>
              </a:rPr>
              <a:t>TABLE OF CONTENT</a:t>
            </a:r>
          </a:p>
        </p:txBody>
      </p:sp>
      <p:sp>
        <p:nvSpPr>
          <p:cNvPr id="9" name="TextBox 9"/>
          <p:cNvSpPr txBox="1"/>
          <p:nvPr/>
        </p:nvSpPr>
        <p:spPr>
          <a:xfrm>
            <a:off x="2669867" y="3103205"/>
            <a:ext cx="3733660" cy="566420"/>
          </a:xfrm>
          <a:prstGeom prst="rect">
            <a:avLst/>
          </a:prstGeom>
        </p:spPr>
        <p:txBody>
          <a:bodyPr lIns="0" tIns="0" rIns="0" bIns="0" rtlCol="0" anchor="t">
            <a:spAutoFit/>
          </a:bodyPr>
          <a:lstStyle/>
          <a:p>
            <a:pPr algn="just">
              <a:lnSpc>
                <a:spcPts val="4480"/>
              </a:lnSpc>
            </a:pPr>
            <a:r>
              <a:rPr lang="en-US" sz="3200">
                <a:solidFill>
                  <a:srgbClr val="C1E59F"/>
                </a:solidFill>
                <a:latin typeface="Arial"/>
                <a:ea typeface="Arial"/>
                <a:cs typeface="Arial"/>
                <a:sym typeface="Arial"/>
              </a:rPr>
              <a:t>Introduction</a:t>
            </a:r>
          </a:p>
        </p:txBody>
      </p:sp>
      <p:sp>
        <p:nvSpPr>
          <p:cNvPr id="10" name="TextBox 10"/>
          <p:cNvSpPr txBox="1"/>
          <p:nvPr/>
        </p:nvSpPr>
        <p:spPr>
          <a:xfrm>
            <a:off x="2669867" y="4120555"/>
            <a:ext cx="5374827" cy="566420"/>
          </a:xfrm>
          <a:prstGeom prst="rect">
            <a:avLst/>
          </a:prstGeom>
        </p:spPr>
        <p:txBody>
          <a:bodyPr lIns="0" tIns="0" rIns="0" bIns="0" rtlCol="0" anchor="t">
            <a:spAutoFit/>
          </a:bodyPr>
          <a:lstStyle/>
          <a:p>
            <a:pPr algn="just">
              <a:lnSpc>
                <a:spcPts val="4480"/>
              </a:lnSpc>
            </a:pPr>
            <a:r>
              <a:rPr lang="en-US" sz="3200">
                <a:solidFill>
                  <a:srgbClr val="C1E59F"/>
                </a:solidFill>
                <a:latin typeface="Arial"/>
                <a:ea typeface="Arial"/>
                <a:cs typeface="Arial"/>
                <a:sym typeface="Arial"/>
              </a:rPr>
              <a:t>Project Overview</a:t>
            </a:r>
          </a:p>
        </p:txBody>
      </p:sp>
      <p:sp>
        <p:nvSpPr>
          <p:cNvPr id="11" name="TextBox 11"/>
          <p:cNvSpPr txBox="1"/>
          <p:nvPr/>
        </p:nvSpPr>
        <p:spPr>
          <a:xfrm>
            <a:off x="2669867" y="5233075"/>
            <a:ext cx="5374827" cy="566420"/>
          </a:xfrm>
          <a:prstGeom prst="rect">
            <a:avLst/>
          </a:prstGeom>
        </p:spPr>
        <p:txBody>
          <a:bodyPr lIns="0" tIns="0" rIns="0" bIns="0" rtlCol="0" anchor="t">
            <a:spAutoFit/>
          </a:bodyPr>
          <a:lstStyle/>
          <a:p>
            <a:pPr algn="just">
              <a:lnSpc>
                <a:spcPts val="4480"/>
              </a:lnSpc>
            </a:pPr>
            <a:r>
              <a:rPr lang="en-US" sz="3200">
                <a:solidFill>
                  <a:srgbClr val="C1E59F"/>
                </a:solidFill>
                <a:latin typeface="Arial"/>
                <a:ea typeface="Arial"/>
                <a:cs typeface="Arial"/>
                <a:sym typeface="Arial"/>
              </a:rPr>
              <a:t>Data Preprocessing</a:t>
            </a:r>
          </a:p>
        </p:txBody>
      </p:sp>
      <p:sp>
        <p:nvSpPr>
          <p:cNvPr id="12" name="TextBox 12"/>
          <p:cNvSpPr txBox="1"/>
          <p:nvPr/>
        </p:nvSpPr>
        <p:spPr>
          <a:xfrm>
            <a:off x="2669867" y="6210658"/>
            <a:ext cx="6474133" cy="566420"/>
          </a:xfrm>
          <a:prstGeom prst="rect">
            <a:avLst/>
          </a:prstGeom>
        </p:spPr>
        <p:txBody>
          <a:bodyPr lIns="0" tIns="0" rIns="0" bIns="0" rtlCol="0" anchor="t">
            <a:spAutoFit/>
          </a:bodyPr>
          <a:lstStyle/>
          <a:p>
            <a:pPr algn="just">
              <a:lnSpc>
                <a:spcPts val="4480"/>
              </a:lnSpc>
            </a:pPr>
            <a:r>
              <a:rPr lang="en-US" sz="3200">
                <a:solidFill>
                  <a:srgbClr val="C1E59F"/>
                </a:solidFill>
                <a:latin typeface="Arial"/>
                <a:ea typeface="Arial"/>
                <a:cs typeface="Arial"/>
                <a:sym typeface="Arial"/>
              </a:rPr>
              <a:t>Data Analysis</a:t>
            </a:r>
          </a:p>
        </p:txBody>
      </p:sp>
      <p:sp>
        <p:nvSpPr>
          <p:cNvPr id="13" name="TextBox 13"/>
          <p:cNvSpPr txBox="1"/>
          <p:nvPr/>
        </p:nvSpPr>
        <p:spPr>
          <a:xfrm>
            <a:off x="2669867" y="7266028"/>
            <a:ext cx="7038662" cy="566420"/>
          </a:xfrm>
          <a:prstGeom prst="rect">
            <a:avLst/>
          </a:prstGeom>
        </p:spPr>
        <p:txBody>
          <a:bodyPr lIns="0" tIns="0" rIns="0" bIns="0" rtlCol="0" anchor="t">
            <a:spAutoFit/>
          </a:bodyPr>
          <a:lstStyle/>
          <a:p>
            <a:pPr algn="just">
              <a:lnSpc>
                <a:spcPts val="4480"/>
              </a:lnSpc>
            </a:pPr>
            <a:r>
              <a:rPr lang="en-US" sz="3200">
                <a:solidFill>
                  <a:srgbClr val="C1E59F"/>
                </a:solidFill>
                <a:latin typeface="Arial"/>
                <a:ea typeface="Arial"/>
                <a:cs typeface="Arial"/>
                <a:sym typeface="Arial"/>
              </a:rPr>
              <a:t>Conclusion &amp; Recommendation</a:t>
            </a:r>
          </a:p>
        </p:txBody>
      </p:sp>
      <p:sp>
        <p:nvSpPr>
          <p:cNvPr id="14" name="AutoShape 14"/>
          <p:cNvSpPr/>
          <p:nvPr/>
        </p:nvSpPr>
        <p:spPr>
          <a:xfrm>
            <a:off x="2669867" y="3742629"/>
            <a:ext cx="5706761" cy="0"/>
          </a:xfrm>
          <a:prstGeom prst="line">
            <a:avLst/>
          </a:prstGeom>
          <a:ln w="19050" cap="flat">
            <a:solidFill>
              <a:srgbClr val="FFFFFF"/>
            </a:solidFill>
            <a:prstDash val="solid"/>
            <a:headEnd type="none" w="sm" len="sm"/>
            <a:tailEnd type="none" w="sm" len="sm"/>
          </a:ln>
        </p:spPr>
      </p:sp>
      <p:sp>
        <p:nvSpPr>
          <p:cNvPr id="15" name="AutoShape 15"/>
          <p:cNvSpPr/>
          <p:nvPr/>
        </p:nvSpPr>
        <p:spPr>
          <a:xfrm>
            <a:off x="2669867" y="4804349"/>
            <a:ext cx="5706761" cy="0"/>
          </a:xfrm>
          <a:prstGeom prst="line">
            <a:avLst/>
          </a:prstGeom>
          <a:ln w="19050" cap="flat">
            <a:solidFill>
              <a:srgbClr val="FFFFFF"/>
            </a:solidFill>
            <a:prstDash val="solid"/>
            <a:headEnd type="none" w="sm" len="sm"/>
            <a:tailEnd type="none" w="sm" len="sm"/>
          </a:ln>
        </p:spPr>
      </p:sp>
      <p:sp>
        <p:nvSpPr>
          <p:cNvPr id="16" name="AutoShape 16"/>
          <p:cNvSpPr/>
          <p:nvPr/>
        </p:nvSpPr>
        <p:spPr>
          <a:xfrm>
            <a:off x="2669867" y="5866069"/>
            <a:ext cx="5706761" cy="0"/>
          </a:xfrm>
          <a:prstGeom prst="line">
            <a:avLst/>
          </a:prstGeom>
          <a:ln w="19050" cap="flat">
            <a:solidFill>
              <a:srgbClr val="FFFFFF"/>
            </a:solidFill>
            <a:prstDash val="solid"/>
            <a:headEnd type="none" w="sm" len="sm"/>
            <a:tailEnd type="none" w="sm" len="sm"/>
          </a:ln>
        </p:spPr>
      </p:sp>
      <p:sp>
        <p:nvSpPr>
          <p:cNvPr id="17" name="AutoShape 17"/>
          <p:cNvSpPr/>
          <p:nvPr/>
        </p:nvSpPr>
        <p:spPr>
          <a:xfrm>
            <a:off x="2669867" y="6891377"/>
            <a:ext cx="5706761" cy="0"/>
          </a:xfrm>
          <a:prstGeom prst="line">
            <a:avLst/>
          </a:prstGeom>
          <a:ln w="19050" cap="flat">
            <a:solidFill>
              <a:srgbClr val="FFFFFF"/>
            </a:solidFill>
            <a:prstDash val="solid"/>
            <a:headEnd type="none" w="sm" len="sm"/>
            <a:tailEnd type="none" w="sm" len="sm"/>
          </a:ln>
        </p:spPr>
      </p:sp>
      <p:sp>
        <p:nvSpPr>
          <p:cNvPr id="18" name="AutoShape 18"/>
          <p:cNvSpPr/>
          <p:nvPr/>
        </p:nvSpPr>
        <p:spPr>
          <a:xfrm>
            <a:off x="2669867" y="8027374"/>
            <a:ext cx="5706761" cy="0"/>
          </a:xfrm>
          <a:prstGeom prst="line">
            <a:avLst/>
          </a:prstGeom>
          <a:ln w="19050" cap="flat">
            <a:solidFill>
              <a:srgbClr val="FFFFFF"/>
            </a:solidFill>
            <a:prstDash val="solid"/>
            <a:headEnd type="none" w="sm" len="sm"/>
            <a:tailEnd type="none" w="sm" len="sm"/>
          </a:ln>
        </p:spPr>
      </p:sp>
      <p:sp>
        <p:nvSpPr>
          <p:cNvPr id="19" name="TextBox 19"/>
          <p:cNvSpPr txBox="1"/>
          <p:nvPr/>
        </p:nvSpPr>
        <p:spPr>
          <a:xfrm>
            <a:off x="1512777" y="3015892"/>
            <a:ext cx="910768" cy="744220"/>
          </a:xfrm>
          <a:prstGeom prst="rect">
            <a:avLst/>
          </a:prstGeom>
        </p:spPr>
        <p:txBody>
          <a:bodyPr lIns="0" tIns="0" rIns="0" bIns="0" rtlCol="0" anchor="t">
            <a:spAutoFit/>
          </a:bodyPr>
          <a:lstStyle/>
          <a:p>
            <a:pPr algn="ctr">
              <a:lnSpc>
                <a:spcPts val="5880"/>
              </a:lnSpc>
            </a:pPr>
            <a:r>
              <a:rPr lang="en-US" sz="4200" b="1">
                <a:solidFill>
                  <a:srgbClr val="77B254"/>
                </a:solidFill>
                <a:latin typeface="Arial Bold"/>
                <a:ea typeface="Arial Bold"/>
                <a:cs typeface="Arial Bold"/>
                <a:sym typeface="Arial Bold"/>
              </a:rPr>
              <a:t>01</a:t>
            </a:r>
          </a:p>
        </p:txBody>
      </p:sp>
      <p:sp>
        <p:nvSpPr>
          <p:cNvPr id="20" name="TextBox 20"/>
          <p:cNvSpPr txBox="1"/>
          <p:nvPr/>
        </p:nvSpPr>
        <p:spPr>
          <a:xfrm>
            <a:off x="1512777" y="4033243"/>
            <a:ext cx="910768" cy="744220"/>
          </a:xfrm>
          <a:prstGeom prst="rect">
            <a:avLst/>
          </a:prstGeom>
        </p:spPr>
        <p:txBody>
          <a:bodyPr lIns="0" tIns="0" rIns="0" bIns="0" rtlCol="0" anchor="t">
            <a:spAutoFit/>
          </a:bodyPr>
          <a:lstStyle/>
          <a:p>
            <a:pPr algn="ctr">
              <a:lnSpc>
                <a:spcPts val="5880"/>
              </a:lnSpc>
            </a:pPr>
            <a:r>
              <a:rPr lang="en-US" sz="4200" b="1">
                <a:solidFill>
                  <a:srgbClr val="77B254"/>
                </a:solidFill>
                <a:latin typeface="Arial Bold"/>
                <a:ea typeface="Arial Bold"/>
                <a:cs typeface="Arial Bold"/>
                <a:sym typeface="Arial Bold"/>
              </a:rPr>
              <a:t>02</a:t>
            </a:r>
          </a:p>
        </p:txBody>
      </p:sp>
      <p:sp>
        <p:nvSpPr>
          <p:cNvPr id="21" name="TextBox 21"/>
          <p:cNvSpPr txBox="1"/>
          <p:nvPr/>
        </p:nvSpPr>
        <p:spPr>
          <a:xfrm>
            <a:off x="1512777" y="5145763"/>
            <a:ext cx="910768" cy="744220"/>
          </a:xfrm>
          <a:prstGeom prst="rect">
            <a:avLst/>
          </a:prstGeom>
        </p:spPr>
        <p:txBody>
          <a:bodyPr lIns="0" tIns="0" rIns="0" bIns="0" rtlCol="0" anchor="t">
            <a:spAutoFit/>
          </a:bodyPr>
          <a:lstStyle/>
          <a:p>
            <a:pPr algn="ctr">
              <a:lnSpc>
                <a:spcPts val="5880"/>
              </a:lnSpc>
            </a:pPr>
            <a:r>
              <a:rPr lang="en-US" sz="4200" b="1">
                <a:solidFill>
                  <a:srgbClr val="77B254"/>
                </a:solidFill>
                <a:latin typeface="Arial Bold"/>
                <a:ea typeface="Arial Bold"/>
                <a:cs typeface="Arial Bold"/>
                <a:sym typeface="Arial Bold"/>
              </a:rPr>
              <a:t>03</a:t>
            </a:r>
          </a:p>
        </p:txBody>
      </p:sp>
      <p:sp>
        <p:nvSpPr>
          <p:cNvPr id="22" name="TextBox 22"/>
          <p:cNvSpPr txBox="1"/>
          <p:nvPr/>
        </p:nvSpPr>
        <p:spPr>
          <a:xfrm>
            <a:off x="1512777" y="6201133"/>
            <a:ext cx="910768" cy="744220"/>
          </a:xfrm>
          <a:prstGeom prst="rect">
            <a:avLst/>
          </a:prstGeom>
        </p:spPr>
        <p:txBody>
          <a:bodyPr lIns="0" tIns="0" rIns="0" bIns="0" rtlCol="0" anchor="t">
            <a:spAutoFit/>
          </a:bodyPr>
          <a:lstStyle/>
          <a:p>
            <a:pPr algn="ctr">
              <a:lnSpc>
                <a:spcPts val="5880"/>
              </a:lnSpc>
            </a:pPr>
            <a:r>
              <a:rPr lang="en-US" sz="4200" b="1">
                <a:solidFill>
                  <a:srgbClr val="77B254"/>
                </a:solidFill>
                <a:latin typeface="Arial Bold"/>
                <a:ea typeface="Arial Bold"/>
                <a:cs typeface="Arial Bold"/>
                <a:sym typeface="Arial Bold"/>
              </a:rPr>
              <a:t>04</a:t>
            </a:r>
          </a:p>
        </p:txBody>
      </p:sp>
      <p:sp>
        <p:nvSpPr>
          <p:cNvPr id="23" name="TextBox 23"/>
          <p:cNvSpPr txBox="1"/>
          <p:nvPr/>
        </p:nvSpPr>
        <p:spPr>
          <a:xfrm>
            <a:off x="1512777" y="7295854"/>
            <a:ext cx="910768" cy="744220"/>
          </a:xfrm>
          <a:prstGeom prst="rect">
            <a:avLst/>
          </a:prstGeom>
        </p:spPr>
        <p:txBody>
          <a:bodyPr lIns="0" tIns="0" rIns="0" bIns="0" rtlCol="0" anchor="t">
            <a:spAutoFit/>
          </a:bodyPr>
          <a:lstStyle/>
          <a:p>
            <a:pPr algn="ctr">
              <a:lnSpc>
                <a:spcPts val="5880"/>
              </a:lnSpc>
            </a:pPr>
            <a:r>
              <a:rPr lang="en-US" sz="4200" b="1">
                <a:solidFill>
                  <a:srgbClr val="77B254"/>
                </a:solidFill>
                <a:latin typeface="Arial Bold"/>
                <a:ea typeface="Arial Bold"/>
                <a:cs typeface="Arial Bold"/>
                <a:sym typeface="Arial Bold"/>
              </a:rPr>
              <a:t>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3258662" y="1072989"/>
            <a:ext cx="1449477" cy="634197"/>
            <a:chOff x="0" y="0"/>
            <a:chExt cx="381755" cy="167031"/>
          </a:xfrm>
        </p:grpSpPr>
        <p:sp>
          <p:nvSpPr>
            <p:cNvPr id="3" name="Freeform 3"/>
            <p:cNvSpPr/>
            <p:nvPr/>
          </p:nvSpPr>
          <p:spPr>
            <a:xfrm>
              <a:off x="0" y="0"/>
              <a:ext cx="381755" cy="167031"/>
            </a:xfrm>
            <a:custGeom>
              <a:avLst/>
              <a:gdLst/>
              <a:ahLst/>
              <a:cxnLst/>
              <a:rect l="l" t="t" r="r" b="b"/>
              <a:pathLst>
                <a:path w="381755" h="167031">
                  <a:moveTo>
                    <a:pt x="83516" y="0"/>
                  </a:moveTo>
                  <a:lnTo>
                    <a:pt x="298240" y="0"/>
                  </a:lnTo>
                  <a:cubicBezTo>
                    <a:pt x="320389" y="0"/>
                    <a:pt x="341632" y="8799"/>
                    <a:pt x="357294" y="24461"/>
                  </a:cubicBezTo>
                  <a:cubicBezTo>
                    <a:pt x="372956" y="40123"/>
                    <a:pt x="381755" y="61366"/>
                    <a:pt x="381755" y="83516"/>
                  </a:cubicBezTo>
                  <a:lnTo>
                    <a:pt x="381755" y="83516"/>
                  </a:lnTo>
                  <a:cubicBezTo>
                    <a:pt x="381755" y="105665"/>
                    <a:pt x="372956" y="126908"/>
                    <a:pt x="357294" y="142570"/>
                  </a:cubicBezTo>
                  <a:cubicBezTo>
                    <a:pt x="341632" y="158232"/>
                    <a:pt x="320389" y="167031"/>
                    <a:pt x="298240" y="167031"/>
                  </a:cubicBezTo>
                  <a:lnTo>
                    <a:pt x="83516" y="167031"/>
                  </a:lnTo>
                  <a:cubicBezTo>
                    <a:pt x="61366" y="167031"/>
                    <a:pt x="40123" y="158232"/>
                    <a:pt x="24461" y="142570"/>
                  </a:cubicBezTo>
                  <a:cubicBezTo>
                    <a:pt x="8799" y="126908"/>
                    <a:pt x="0" y="105665"/>
                    <a:pt x="0" y="83516"/>
                  </a:cubicBezTo>
                  <a:lnTo>
                    <a:pt x="0" y="83516"/>
                  </a:lnTo>
                  <a:cubicBezTo>
                    <a:pt x="0" y="61366"/>
                    <a:pt x="8799" y="40123"/>
                    <a:pt x="24461" y="24461"/>
                  </a:cubicBezTo>
                  <a:cubicBezTo>
                    <a:pt x="40123" y="8799"/>
                    <a:pt x="61366" y="0"/>
                    <a:pt x="83516" y="0"/>
                  </a:cubicBezTo>
                  <a:close/>
                </a:path>
              </a:pathLst>
            </a:custGeom>
            <a:ln w="19050" cap="rnd">
              <a:solidFill>
                <a:srgbClr val="77B254"/>
              </a:solidFill>
              <a:prstDash val="solid"/>
              <a:round/>
            </a:ln>
          </p:spPr>
        </p:sp>
        <p:sp>
          <p:nvSpPr>
            <p:cNvPr id="4" name="TextBox 4"/>
            <p:cNvSpPr txBox="1"/>
            <p:nvPr/>
          </p:nvSpPr>
          <p:spPr>
            <a:xfrm>
              <a:off x="0" y="-38100"/>
              <a:ext cx="381755" cy="20513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504095" y="2608532"/>
            <a:ext cx="6755205" cy="6307580"/>
            <a:chOff x="0" y="0"/>
            <a:chExt cx="1321729" cy="1234146"/>
          </a:xfrm>
        </p:grpSpPr>
        <p:sp>
          <p:nvSpPr>
            <p:cNvPr id="6" name="Freeform 6"/>
            <p:cNvSpPr/>
            <p:nvPr/>
          </p:nvSpPr>
          <p:spPr>
            <a:xfrm>
              <a:off x="0" y="0"/>
              <a:ext cx="1321729" cy="1234146"/>
            </a:xfrm>
            <a:custGeom>
              <a:avLst/>
              <a:gdLst/>
              <a:ahLst/>
              <a:cxnLst/>
              <a:rect l="l" t="t" r="r" b="b"/>
              <a:pathLst>
                <a:path w="1321729" h="1234146">
                  <a:moveTo>
                    <a:pt x="51573" y="0"/>
                  </a:moveTo>
                  <a:lnTo>
                    <a:pt x="1270156" y="0"/>
                  </a:lnTo>
                  <a:cubicBezTo>
                    <a:pt x="1298639" y="0"/>
                    <a:pt x="1321729" y="23090"/>
                    <a:pt x="1321729" y="51573"/>
                  </a:cubicBezTo>
                  <a:lnTo>
                    <a:pt x="1321729" y="1182573"/>
                  </a:lnTo>
                  <a:cubicBezTo>
                    <a:pt x="1321729" y="1211056"/>
                    <a:pt x="1298639" y="1234146"/>
                    <a:pt x="1270156" y="1234146"/>
                  </a:cubicBezTo>
                  <a:lnTo>
                    <a:pt x="51573" y="1234146"/>
                  </a:lnTo>
                  <a:cubicBezTo>
                    <a:pt x="23090" y="1234146"/>
                    <a:pt x="0" y="1211056"/>
                    <a:pt x="0" y="1182573"/>
                  </a:cubicBezTo>
                  <a:lnTo>
                    <a:pt x="0" y="51573"/>
                  </a:lnTo>
                  <a:cubicBezTo>
                    <a:pt x="0" y="23090"/>
                    <a:pt x="23090" y="0"/>
                    <a:pt x="51573" y="0"/>
                  </a:cubicBezTo>
                  <a:close/>
                </a:path>
              </a:pathLst>
            </a:custGeom>
            <a:blipFill>
              <a:blip r:embed="rId2"/>
              <a:stretch>
                <a:fillRect t="-30259" b="-30259"/>
              </a:stretch>
            </a:blipFill>
            <a:ln w="47625" cap="rnd">
              <a:solidFill>
                <a:srgbClr val="77B254"/>
              </a:solidFill>
              <a:prstDash val="solid"/>
              <a:round/>
            </a:ln>
          </p:spPr>
        </p:sp>
      </p:grpSp>
      <p:sp>
        <p:nvSpPr>
          <p:cNvPr id="7" name="AutoShape 7"/>
          <p:cNvSpPr/>
          <p:nvPr/>
        </p:nvSpPr>
        <p:spPr>
          <a:xfrm>
            <a:off x="1028700" y="1958044"/>
            <a:ext cx="3886509" cy="0"/>
          </a:xfrm>
          <a:prstGeom prst="line">
            <a:avLst/>
          </a:prstGeom>
          <a:ln w="19050" cap="flat">
            <a:solidFill>
              <a:srgbClr val="FFFFFF"/>
            </a:solidFill>
            <a:prstDash val="solid"/>
            <a:headEnd type="none" w="sm" len="sm"/>
            <a:tailEnd type="none" w="sm" len="sm"/>
          </a:ln>
        </p:spPr>
      </p:sp>
      <p:sp>
        <p:nvSpPr>
          <p:cNvPr id="8" name="TextBox 8"/>
          <p:cNvSpPr txBox="1"/>
          <p:nvPr/>
        </p:nvSpPr>
        <p:spPr>
          <a:xfrm>
            <a:off x="13480424"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9" name="TextBox 9"/>
          <p:cNvSpPr txBox="1"/>
          <p:nvPr/>
        </p:nvSpPr>
        <p:spPr>
          <a:xfrm>
            <a:off x="11237226"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10" name="TextBox 10"/>
          <p:cNvSpPr txBox="1"/>
          <p:nvPr/>
        </p:nvSpPr>
        <p:spPr>
          <a:xfrm>
            <a:off x="15458039" y="1213269"/>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11" name="TextBox 11"/>
          <p:cNvSpPr txBox="1"/>
          <p:nvPr/>
        </p:nvSpPr>
        <p:spPr>
          <a:xfrm>
            <a:off x="1028700" y="929905"/>
            <a:ext cx="5683065" cy="953135"/>
          </a:xfrm>
          <a:prstGeom prst="rect">
            <a:avLst/>
          </a:prstGeom>
        </p:spPr>
        <p:txBody>
          <a:bodyPr lIns="0" tIns="0" rIns="0" bIns="0" rtlCol="0" anchor="t">
            <a:spAutoFit/>
          </a:bodyPr>
          <a:lstStyle/>
          <a:p>
            <a:pPr algn="l">
              <a:lnSpc>
                <a:spcPts val="7840"/>
              </a:lnSpc>
            </a:pPr>
            <a:r>
              <a:rPr lang="en-US" sz="5600">
                <a:solidFill>
                  <a:srgbClr val="C1E59F"/>
                </a:solidFill>
                <a:latin typeface="Anton"/>
                <a:ea typeface="Anton"/>
                <a:cs typeface="Anton"/>
                <a:sym typeface="Anton"/>
              </a:rPr>
              <a:t>SELF OVERVIEW</a:t>
            </a:r>
          </a:p>
        </p:txBody>
      </p:sp>
      <p:sp>
        <p:nvSpPr>
          <p:cNvPr id="12" name="TextBox 12"/>
          <p:cNvSpPr txBox="1"/>
          <p:nvPr/>
        </p:nvSpPr>
        <p:spPr>
          <a:xfrm>
            <a:off x="1524000" y="5505919"/>
            <a:ext cx="8115300" cy="2567660"/>
          </a:xfrm>
          <a:prstGeom prst="rect">
            <a:avLst/>
          </a:prstGeom>
        </p:spPr>
        <p:txBody>
          <a:bodyPr lIns="0" tIns="0" rIns="0" bIns="0" rtlCol="0" anchor="t">
            <a:spAutoFit/>
          </a:bodyPr>
          <a:lstStyle/>
          <a:p>
            <a:pPr marL="520542" lvl="1" indent="-260271" algn="l">
              <a:lnSpc>
                <a:spcPts val="3375"/>
              </a:lnSpc>
              <a:buFont typeface="Arial"/>
              <a:buChar char="•"/>
            </a:pPr>
            <a:r>
              <a:rPr lang="en-US" sz="2411" dirty="0">
                <a:solidFill>
                  <a:srgbClr val="FFFFFF"/>
                </a:solidFill>
                <a:latin typeface="Arial"/>
                <a:ea typeface="Arial"/>
                <a:cs typeface="Arial"/>
                <a:sym typeface="Arial"/>
              </a:rPr>
              <a:t>Education</a:t>
            </a:r>
          </a:p>
          <a:p>
            <a:pPr algn="just">
              <a:lnSpc>
                <a:spcPts val="3375"/>
              </a:lnSpc>
            </a:pPr>
            <a:r>
              <a:rPr lang="en-US" sz="2411" dirty="0">
                <a:solidFill>
                  <a:srgbClr val="FFFFFF"/>
                </a:solidFill>
                <a:latin typeface="Arial"/>
                <a:ea typeface="Arial"/>
                <a:cs typeface="Arial"/>
                <a:sym typeface="Arial"/>
              </a:rPr>
              <a:t>Graduated from UPRI Makassar</a:t>
            </a:r>
          </a:p>
          <a:p>
            <a:pPr algn="just">
              <a:lnSpc>
                <a:spcPts val="3375"/>
              </a:lnSpc>
            </a:pPr>
            <a:endParaRPr lang="en-US" sz="2411" dirty="0">
              <a:solidFill>
                <a:srgbClr val="FFFFFF"/>
              </a:solidFill>
              <a:latin typeface="Arial"/>
              <a:ea typeface="Arial"/>
              <a:cs typeface="Arial"/>
              <a:sym typeface="Arial"/>
            </a:endParaRPr>
          </a:p>
          <a:p>
            <a:pPr marL="520542" lvl="1" indent="-260271" algn="l">
              <a:lnSpc>
                <a:spcPts val="3375"/>
              </a:lnSpc>
              <a:buFont typeface="Arial"/>
              <a:buChar char="•"/>
            </a:pPr>
            <a:r>
              <a:rPr lang="en-US" sz="2411" dirty="0">
                <a:solidFill>
                  <a:srgbClr val="FFFFFF"/>
                </a:solidFill>
                <a:latin typeface="Arial"/>
                <a:ea typeface="Arial"/>
                <a:cs typeface="Arial"/>
                <a:sym typeface="Arial"/>
              </a:rPr>
              <a:t>Experience</a:t>
            </a:r>
          </a:p>
          <a:p>
            <a:pPr algn="just">
              <a:lnSpc>
                <a:spcPts val="3375"/>
              </a:lnSpc>
            </a:pPr>
            <a:r>
              <a:rPr lang="en-US" sz="2411" dirty="0">
                <a:solidFill>
                  <a:srgbClr val="FFFFFF"/>
                </a:solidFill>
                <a:latin typeface="Arial"/>
                <a:ea typeface="Arial"/>
                <a:cs typeface="Arial"/>
                <a:sym typeface="Arial"/>
              </a:rPr>
              <a:t>Data Analyst Bootcamp Student</a:t>
            </a:r>
          </a:p>
          <a:p>
            <a:pPr algn="just">
              <a:lnSpc>
                <a:spcPts val="3375"/>
              </a:lnSpc>
            </a:pPr>
            <a:r>
              <a:rPr lang="en-US" sz="2411" dirty="0">
                <a:solidFill>
                  <a:srgbClr val="FFFFFF"/>
                </a:solidFill>
                <a:latin typeface="Arial"/>
                <a:ea typeface="Arial"/>
                <a:cs typeface="Arial"/>
                <a:sym typeface="Arial"/>
              </a:rPr>
              <a:t>Dibimbing.id (August 2026 – Present)</a:t>
            </a:r>
          </a:p>
        </p:txBody>
      </p:sp>
      <p:sp>
        <p:nvSpPr>
          <p:cNvPr id="13" name="TextBox 13"/>
          <p:cNvSpPr txBox="1"/>
          <p:nvPr/>
        </p:nvSpPr>
        <p:spPr>
          <a:xfrm>
            <a:off x="-43440" y="2829314"/>
            <a:ext cx="6755205" cy="2379498"/>
          </a:xfrm>
          <a:prstGeom prst="rect">
            <a:avLst/>
          </a:prstGeom>
        </p:spPr>
        <p:txBody>
          <a:bodyPr wrap="square" lIns="0" tIns="0" rIns="0" bIns="0" rtlCol="0" anchor="t">
            <a:spAutoFit/>
          </a:bodyPr>
          <a:lstStyle/>
          <a:p>
            <a:pPr algn="ctr">
              <a:lnSpc>
                <a:spcPts val="9718"/>
              </a:lnSpc>
              <a:spcBef>
                <a:spcPct val="0"/>
              </a:spcBef>
            </a:pPr>
            <a:r>
              <a:rPr lang="en-US" sz="6941" b="1" dirty="0">
                <a:solidFill>
                  <a:srgbClr val="FFFFFF"/>
                </a:solidFill>
                <a:latin typeface="Arial Bold"/>
                <a:ea typeface="Arial Bold"/>
                <a:cs typeface="Arial Bold"/>
                <a:sym typeface="Arial Bold"/>
              </a:rPr>
              <a:t>ADELIA EKARLE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3258662" y="1072989"/>
            <a:ext cx="1449477" cy="634197"/>
            <a:chOff x="0" y="0"/>
            <a:chExt cx="381755" cy="167031"/>
          </a:xfrm>
        </p:grpSpPr>
        <p:sp>
          <p:nvSpPr>
            <p:cNvPr id="3" name="Freeform 3"/>
            <p:cNvSpPr/>
            <p:nvPr/>
          </p:nvSpPr>
          <p:spPr>
            <a:xfrm>
              <a:off x="0" y="0"/>
              <a:ext cx="381755" cy="167031"/>
            </a:xfrm>
            <a:custGeom>
              <a:avLst/>
              <a:gdLst/>
              <a:ahLst/>
              <a:cxnLst/>
              <a:rect l="l" t="t" r="r" b="b"/>
              <a:pathLst>
                <a:path w="381755" h="167031">
                  <a:moveTo>
                    <a:pt x="83516" y="0"/>
                  </a:moveTo>
                  <a:lnTo>
                    <a:pt x="298240" y="0"/>
                  </a:lnTo>
                  <a:cubicBezTo>
                    <a:pt x="320389" y="0"/>
                    <a:pt x="341632" y="8799"/>
                    <a:pt x="357294" y="24461"/>
                  </a:cubicBezTo>
                  <a:cubicBezTo>
                    <a:pt x="372956" y="40123"/>
                    <a:pt x="381755" y="61366"/>
                    <a:pt x="381755" y="83516"/>
                  </a:cubicBezTo>
                  <a:lnTo>
                    <a:pt x="381755" y="83516"/>
                  </a:lnTo>
                  <a:cubicBezTo>
                    <a:pt x="381755" y="105665"/>
                    <a:pt x="372956" y="126908"/>
                    <a:pt x="357294" y="142570"/>
                  </a:cubicBezTo>
                  <a:cubicBezTo>
                    <a:pt x="341632" y="158232"/>
                    <a:pt x="320389" y="167031"/>
                    <a:pt x="298240" y="167031"/>
                  </a:cubicBezTo>
                  <a:lnTo>
                    <a:pt x="83516" y="167031"/>
                  </a:lnTo>
                  <a:cubicBezTo>
                    <a:pt x="61366" y="167031"/>
                    <a:pt x="40123" y="158232"/>
                    <a:pt x="24461" y="142570"/>
                  </a:cubicBezTo>
                  <a:cubicBezTo>
                    <a:pt x="8799" y="126908"/>
                    <a:pt x="0" y="105665"/>
                    <a:pt x="0" y="83516"/>
                  </a:cubicBezTo>
                  <a:lnTo>
                    <a:pt x="0" y="83516"/>
                  </a:lnTo>
                  <a:cubicBezTo>
                    <a:pt x="0" y="61366"/>
                    <a:pt x="8799" y="40123"/>
                    <a:pt x="24461" y="24461"/>
                  </a:cubicBezTo>
                  <a:cubicBezTo>
                    <a:pt x="40123" y="8799"/>
                    <a:pt x="61366" y="0"/>
                    <a:pt x="83516" y="0"/>
                  </a:cubicBezTo>
                  <a:close/>
                </a:path>
              </a:pathLst>
            </a:custGeom>
            <a:ln w="19050" cap="rnd">
              <a:solidFill>
                <a:srgbClr val="77B254"/>
              </a:solidFill>
              <a:prstDash val="solid"/>
              <a:round/>
            </a:ln>
          </p:spPr>
        </p:sp>
        <p:sp>
          <p:nvSpPr>
            <p:cNvPr id="4" name="TextBox 4"/>
            <p:cNvSpPr txBox="1"/>
            <p:nvPr/>
          </p:nvSpPr>
          <p:spPr>
            <a:xfrm>
              <a:off x="0" y="-38100"/>
              <a:ext cx="381755" cy="20513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198416" y="3456827"/>
            <a:ext cx="3512725" cy="7181828"/>
            <a:chOff x="0" y="0"/>
            <a:chExt cx="544213" cy="1112653"/>
          </a:xfrm>
        </p:grpSpPr>
        <p:sp>
          <p:nvSpPr>
            <p:cNvPr id="6" name="Freeform 6"/>
            <p:cNvSpPr/>
            <p:nvPr/>
          </p:nvSpPr>
          <p:spPr>
            <a:xfrm>
              <a:off x="0" y="0"/>
              <a:ext cx="544213" cy="1112653"/>
            </a:xfrm>
            <a:custGeom>
              <a:avLst/>
              <a:gdLst/>
              <a:ahLst/>
              <a:cxnLst/>
              <a:rect l="l" t="t" r="r" b="b"/>
              <a:pathLst>
                <a:path w="544213" h="1112653">
                  <a:moveTo>
                    <a:pt x="99178" y="0"/>
                  </a:moveTo>
                  <a:lnTo>
                    <a:pt x="445035" y="0"/>
                  </a:lnTo>
                  <a:cubicBezTo>
                    <a:pt x="471338" y="0"/>
                    <a:pt x="496565" y="10449"/>
                    <a:pt x="515164" y="29049"/>
                  </a:cubicBezTo>
                  <a:cubicBezTo>
                    <a:pt x="533764" y="47648"/>
                    <a:pt x="544213" y="72875"/>
                    <a:pt x="544213" y="99178"/>
                  </a:cubicBezTo>
                  <a:lnTo>
                    <a:pt x="544213" y="1013475"/>
                  </a:lnTo>
                  <a:cubicBezTo>
                    <a:pt x="544213" y="1068249"/>
                    <a:pt x="499809" y="1112653"/>
                    <a:pt x="445035" y="1112653"/>
                  </a:cubicBezTo>
                  <a:lnTo>
                    <a:pt x="99178" y="1112653"/>
                  </a:lnTo>
                  <a:cubicBezTo>
                    <a:pt x="72875" y="1112653"/>
                    <a:pt x="47648" y="1102204"/>
                    <a:pt x="29049" y="1083604"/>
                  </a:cubicBezTo>
                  <a:cubicBezTo>
                    <a:pt x="10449" y="1065005"/>
                    <a:pt x="0" y="1039778"/>
                    <a:pt x="0" y="1013475"/>
                  </a:cubicBezTo>
                  <a:lnTo>
                    <a:pt x="0" y="99178"/>
                  </a:lnTo>
                  <a:cubicBezTo>
                    <a:pt x="0" y="72875"/>
                    <a:pt x="10449" y="47648"/>
                    <a:pt x="29049" y="29049"/>
                  </a:cubicBezTo>
                  <a:cubicBezTo>
                    <a:pt x="47648" y="10449"/>
                    <a:pt x="72875" y="0"/>
                    <a:pt x="99178" y="0"/>
                  </a:cubicBezTo>
                  <a:close/>
                </a:path>
              </a:pathLst>
            </a:custGeom>
            <a:blipFill>
              <a:blip r:embed="rId2"/>
              <a:stretch>
                <a:fillRect l="-173405" r="-32993"/>
              </a:stretch>
            </a:blipFill>
            <a:ln w="47625" cap="rnd">
              <a:solidFill>
                <a:srgbClr val="77B254"/>
              </a:solidFill>
              <a:prstDash val="solid"/>
              <a:round/>
            </a:ln>
          </p:spPr>
        </p:sp>
      </p:grpSp>
      <p:grpSp>
        <p:nvGrpSpPr>
          <p:cNvPr id="7" name="Group 7"/>
          <p:cNvGrpSpPr/>
          <p:nvPr/>
        </p:nvGrpSpPr>
        <p:grpSpPr>
          <a:xfrm>
            <a:off x="10477251" y="2672626"/>
            <a:ext cx="3512725" cy="7966029"/>
            <a:chOff x="0" y="0"/>
            <a:chExt cx="544213" cy="1234146"/>
          </a:xfrm>
        </p:grpSpPr>
        <p:sp>
          <p:nvSpPr>
            <p:cNvPr id="8" name="Freeform 8"/>
            <p:cNvSpPr/>
            <p:nvPr/>
          </p:nvSpPr>
          <p:spPr>
            <a:xfrm>
              <a:off x="0" y="0"/>
              <a:ext cx="544213" cy="1234146"/>
            </a:xfrm>
            <a:custGeom>
              <a:avLst/>
              <a:gdLst/>
              <a:ahLst/>
              <a:cxnLst/>
              <a:rect l="l" t="t" r="r" b="b"/>
              <a:pathLst>
                <a:path w="544213" h="1234146">
                  <a:moveTo>
                    <a:pt x="99178" y="0"/>
                  </a:moveTo>
                  <a:lnTo>
                    <a:pt x="445035" y="0"/>
                  </a:lnTo>
                  <a:cubicBezTo>
                    <a:pt x="471338" y="0"/>
                    <a:pt x="496565" y="10449"/>
                    <a:pt x="515164" y="29049"/>
                  </a:cubicBezTo>
                  <a:cubicBezTo>
                    <a:pt x="533764" y="47648"/>
                    <a:pt x="544213" y="72875"/>
                    <a:pt x="544213" y="99178"/>
                  </a:cubicBezTo>
                  <a:lnTo>
                    <a:pt x="544213" y="1134968"/>
                  </a:lnTo>
                  <a:cubicBezTo>
                    <a:pt x="544213" y="1189743"/>
                    <a:pt x="499809" y="1234146"/>
                    <a:pt x="445035" y="1234146"/>
                  </a:cubicBezTo>
                  <a:lnTo>
                    <a:pt x="99178" y="1234146"/>
                  </a:lnTo>
                  <a:cubicBezTo>
                    <a:pt x="72875" y="1234146"/>
                    <a:pt x="47648" y="1223697"/>
                    <a:pt x="29049" y="1205098"/>
                  </a:cubicBezTo>
                  <a:cubicBezTo>
                    <a:pt x="10449" y="1186498"/>
                    <a:pt x="0" y="1161272"/>
                    <a:pt x="0" y="1134968"/>
                  </a:cubicBezTo>
                  <a:lnTo>
                    <a:pt x="0" y="99178"/>
                  </a:lnTo>
                  <a:cubicBezTo>
                    <a:pt x="0" y="72875"/>
                    <a:pt x="10449" y="47648"/>
                    <a:pt x="29049" y="29049"/>
                  </a:cubicBezTo>
                  <a:cubicBezTo>
                    <a:pt x="47648" y="10449"/>
                    <a:pt x="72875" y="0"/>
                    <a:pt x="99178" y="0"/>
                  </a:cubicBezTo>
                  <a:close/>
                </a:path>
              </a:pathLst>
            </a:custGeom>
            <a:blipFill>
              <a:blip r:embed="rId3"/>
              <a:stretch>
                <a:fillRect l="-25544" r="-25544"/>
              </a:stretch>
            </a:blipFill>
            <a:ln w="47625" cap="rnd">
              <a:solidFill>
                <a:srgbClr val="77B254"/>
              </a:solidFill>
              <a:prstDash val="solid"/>
              <a:round/>
            </a:ln>
          </p:spPr>
        </p:sp>
      </p:grpSp>
      <p:sp>
        <p:nvSpPr>
          <p:cNvPr id="9" name="AutoShape 9"/>
          <p:cNvSpPr/>
          <p:nvPr/>
        </p:nvSpPr>
        <p:spPr>
          <a:xfrm>
            <a:off x="1028700" y="1958044"/>
            <a:ext cx="3886509" cy="0"/>
          </a:xfrm>
          <a:prstGeom prst="line">
            <a:avLst/>
          </a:prstGeom>
          <a:ln w="19050" cap="flat">
            <a:solidFill>
              <a:srgbClr val="FFFFFF"/>
            </a:solidFill>
            <a:prstDash val="solid"/>
            <a:headEnd type="none" w="sm" len="sm"/>
            <a:tailEnd type="none" w="sm" len="sm"/>
          </a:ln>
        </p:spPr>
      </p:sp>
      <p:sp>
        <p:nvSpPr>
          <p:cNvPr id="10" name="TextBox 10"/>
          <p:cNvSpPr txBox="1"/>
          <p:nvPr/>
        </p:nvSpPr>
        <p:spPr>
          <a:xfrm>
            <a:off x="13480424"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11" name="TextBox 11"/>
          <p:cNvSpPr txBox="1"/>
          <p:nvPr/>
        </p:nvSpPr>
        <p:spPr>
          <a:xfrm>
            <a:off x="11237226"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12" name="TextBox 12"/>
          <p:cNvSpPr txBox="1"/>
          <p:nvPr/>
        </p:nvSpPr>
        <p:spPr>
          <a:xfrm>
            <a:off x="15458039" y="1213269"/>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13" name="TextBox 13"/>
          <p:cNvSpPr txBox="1"/>
          <p:nvPr/>
        </p:nvSpPr>
        <p:spPr>
          <a:xfrm>
            <a:off x="1028700" y="929905"/>
            <a:ext cx="5683065" cy="953135"/>
          </a:xfrm>
          <a:prstGeom prst="rect">
            <a:avLst/>
          </a:prstGeom>
        </p:spPr>
        <p:txBody>
          <a:bodyPr lIns="0" tIns="0" rIns="0" bIns="0" rtlCol="0" anchor="t">
            <a:spAutoFit/>
          </a:bodyPr>
          <a:lstStyle/>
          <a:p>
            <a:pPr algn="l">
              <a:lnSpc>
                <a:spcPts val="7840"/>
              </a:lnSpc>
            </a:pPr>
            <a:r>
              <a:rPr lang="en-US" sz="5600">
                <a:solidFill>
                  <a:srgbClr val="C1E59F"/>
                </a:solidFill>
                <a:latin typeface="Anton"/>
                <a:ea typeface="Anton"/>
                <a:cs typeface="Anton"/>
                <a:sym typeface="Anton"/>
              </a:rPr>
              <a:t>PROJECT OVERVIEW</a:t>
            </a:r>
          </a:p>
        </p:txBody>
      </p:sp>
      <p:sp>
        <p:nvSpPr>
          <p:cNvPr id="14" name="TextBox 14"/>
          <p:cNvSpPr txBox="1"/>
          <p:nvPr/>
        </p:nvSpPr>
        <p:spPr>
          <a:xfrm>
            <a:off x="912528" y="2864978"/>
            <a:ext cx="8115300" cy="6425285"/>
          </a:xfrm>
          <a:prstGeom prst="rect">
            <a:avLst/>
          </a:prstGeom>
        </p:spPr>
        <p:txBody>
          <a:bodyPr lIns="0" tIns="0" rIns="0" bIns="0" rtlCol="0" anchor="t">
            <a:spAutoFit/>
          </a:bodyPr>
          <a:lstStyle/>
          <a:p>
            <a:pPr algn="just">
              <a:lnSpc>
                <a:spcPts val="3375"/>
              </a:lnSpc>
            </a:pPr>
            <a:r>
              <a:rPr lang="en-US" sz="2411">
                <a:solidFill>
                  <a:srgbClr val="FFFFFF"/>
                </a:solidFill>
                <a:latin typeface="Arial"/>
                <a:ea typeface="Arial"/>
                <a:cs typeface="Arial"/>
                <a:sym typeface="Arial"/>
              </a:rPr>
              <a:t>Karyawan adalah ujung tombak dalam kemajuan perusahaan, oleh karena itu kemajuan dan kemunduran suatu perusahaan tergantung pada kinerja karyawan. Kinerja yang buruk akan berakibat pada minimnya produktivitas karyawan dalam perusahaan. Perusahaan membutuhkan karyawan yang mampu bekerja dengan lebih baik dan cepat, sehingga diperlukan karyawan yang mempunyai kinerja (performance).</a:t>
            </a:r>
          </a:p>
          <a:p>
            <a:pPr algn="just">
              <a:lnSpc>
                <a:spcPts val="3375"/>
              </a:lnSpc>
            </a:pPr>
            <a:endParaRPr lang="en-US" sz="2411">
              <a:solidFill>
                <a:srgbClr val="FFFFFF"/>
              </a:solidFill>
              <a:latin typeface="Arial"/>
              <a:ea typeface="Arial"/>
              <a:cs typeface="Arial"/>
              <a:sym typeface="Arial"/>
            </a:endParaRPr>
          </a:p>
          <a:p>
            <a:pPr algn="just">
              <a:lnSpc>
                <a:spcPts val="3375"/>
              </a:lnSpc>
            </a:pPr>
            <a:r>
              <a:rPr lang="en-US" sz="2411">
                <a:solidFill>
                  <a:srgbClr val="FFFFFF"/>
                </a:solidFill>
                <a:latin typeface="Arial"/>
                <a:ea typeface="Arial"/>
                <a:cs typeface="Arial"/>
                <a:sym typeface="Arial"/>
              </a:rPr>
              <a:t>Tujuan dari analisis ini adalah untuk mengetahui dan mengevaluasi kondisi kinerja karyawan berdasarkan data yang tersedia, sehingga dapat mengidentifikasi pola performance pada karyawan serta mengetahui department atau kelompok karyawan yang memiliki kinerja tinggi maupun yang membutuhkan peningkatan.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3404495" y="1072989"/>
            <a:ext cx="1190215" cy="671284"/>
            <a:chOff x="0" y="0"/>
            <a:chExt cx="313472" cy="176799"/>
          </a:xfrm>
        </p:grpSpPr>
        <p:sp>
          <p:nvSpPr>
            <p:cNvPr id="3" name="Freeform 3"/>
            <p:cNvSpPr/>
            <p:nvPr/>
          </p:nvSpPr>
          <p:spPr>
            <a:xfrm>
              <a:off x="0" y="0"/>
              <a:ext cx="313472" cy="176799"/>
            </a:xfrm>
            <a:custGeom>
              <a:avLst/>
              <a:gdLst/>
              <a:ahLst/>
              <a:cxnLst/>
              <a:rect l="l" t="t" r="r" b="b"/>
              <a:pathLst>
                <a:path w="313472" h="176799">
                  <a:moveTo>
                    <a:pt x="88399" y="0"/>
                  </a:moveTo>
                  <a:lnTo>
                    <a:pt x="225073" y="0"/>
                  </a:lnTo>
                  <a:cubicBezTo>
                    <a:pt x="248518" y="0"/>
                    <a:pt x="271002" y="9313"/>
                    <a:pt x="287581" y="25892"/>
                  </a:cubicBezTo>
                  <a:cubicBezTo>
                    <a:pt x="304159" y="42470"/>
                    <a:pt x="313472" y="64954"/>
                    <a:pt x="313472" y="88399"/>
                  </a:cubicBezTo>
                  <a:lnTo>
                    <a:pt x="313472" y="88399"/>
                  </a:lnTo>
                  <a:cubicBezTo>
                    <a:pt x="313472" y="137221"/>
                    <a:pt x="273894" y="176799"/>
                    <a:pt x="225073" y="176799"/>
                  </a:cubicBezTo>
                  <a:lnTo>
                    <a:pt x="88399" y="176799"/>
                  </a:lnTo>
                  <a:cubicBezTo>
                    <a:pt x="39578" y="176799"/>
                    <a:pt x="0" y="137221"/>
                    <a:pt x="0" y="88399"/>
                  </a:cubicBezTo>
                  <a:lnTo>
                    <a:pt x="0" y="88399"/>
                  </a:lnTo>
                  <a:cubicBezTo>
                    <a:pt x="0" y="39578"/>
                    <a:pt x="39578" y="0"/>
                    <a:pt x="88399" y="0"/>
                  </a:cubicBezTo>
                  <a:close/>
                </a:path>
              </a:pathLst>
            </a:custGeom>
            <a:ln w="19050" cap="rnd">
              <a:solidFill>
                <a:srgbClr val="77B254"/>
              </a:solidFill>
              <a:prstDash val="solid"/>
              <a:round/>
            </a:ln>
          </p:spPr>
        </p:sp>
        <p:sp>
          <p:nvSpPr>
            <p:cNvPr id="4" name="TextBox 4"/>
            <p:cNvSpPr txBox="1"/>
            <p:nvPr/>
          </p:nvSpPr>
          <p:spPr>
            <a:xfrm>
              <a:off x="0" y="-38100"/>
              <a:ext cx="313472" cy="214899"/>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1987532"/>
            <a:ext cx="5248483" cy="0"/>
          </a:xfrm>
          <a:prstGeom prst="line">
            <a:avLst/>
          </a:prstGeom>
          <a:ln w="19050" cap="flat">
            <a:solidFill>
              <a:srgbClr val="FFFFFF"/>
            </a:solidFill>
            <a:prstDash val="solid"/>
            <a:headEnd type="none" w="sm" len="sm"/>
            <a:tailEnd type="none" w="sm" len="sm"/>
          </a:ln>
        </p:spPr>
      </p:sp>
      <p:sp>
        <p:nvSpPr>
          <p:cNvPr id="6" name="Freeform 6"/>
          <p:cNvSpPr/>
          <p:nvPr/>
        </p:nvSpPr>
        <p:spPr>
          <a:xfrm>
            <a:off x="1145175" y="2676063"/>
            <a:ext cx="15803779" cy="5179173"/>
          </a:xfrm>
          <a:custGeom>
            <a:avLst/>
            <a:gdLst/>
            <a:ahLst/>
            <a:cxnLst/>
            <a:rect l="l" t="t" r="r" b="b"/>
            <a:pathLst>
              <a:path w="15803779" h="5179173">
                <a:moveTo>
                  <a:pt x="0" y="0"/>
                </a:moveTo>
                <a:lnTo>
                  <a:pt x="15803779" y="0"/>
                </a:lnTo>
                <a:lnTo>
                  <a:pt x="15803779" y="5179173"/>
                </a:lnTo>
                <a:lnTo>
                  <a:pt x="0" y="5179173"/>
                </a:lnTo>
                <a:lnTo>
                  <a:pt x="0" y="0"/>
                </a:lnTo>
                <a:close/>
              </a:path>
            </a:pathLst>
          </a:custGeom>
          <a:blipFill>
            <a:blip r:embed="rId2"/>
            <a:stretch>
              <a:fillRect/>
            </a:stretch>
          </a:blipFill>
        </p:spPr>
      </p:sp>
      <p:sp>
        <p:nvSpPr>
          <p:cNvPr id="7" name="TextBox 7"/>
          <p:cNvSpPr txBox="1"/>
          <p:nvPr/>
        </p:nvSpPr>
        <p:spPr>
          <a:xfrm>
            <a:off x="13480424"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8" name="TextBox 8"/>
          <p:cNvSpPr txBox="1"/>
          <p:nvPr/>
        </p:nvSpPr>
        <p:spPr>
          <a:xfrm>
            <a:off x="11237226"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9" name="TextBox 9"/>
          <p:cNvSpPr txBox="1"/>
          <p:nvPr/>
        </p:nvSpPr>
        <p:spPr>
          <a:xfrm>
            <a:off x="15458039" y="1213269"/>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10" name="TextBox 10"/>
          <p:cNvSpPr txBox="1"/>
          <p:nvPr/>
        </p:nvSpPr>
        <p:spPr>
          <a:xfrm>
            <a:off x="1028700" y="955545"/>
            <a:ext cx="7495537" cy="953135"/>
          </a:xfrm>
          <a:prstGeom prst="rect">
            <a:avLst/>
          </a:prstGeom>
        </p:spPr>
        <p:txBody>
          <a:bodyPr lIns="0" tIns="0" rIns="0" bIns="0" rtlCol="0" anchor="t">
            <a:spAutoFit/>
          </a:bodyPr>
          <a:lstStyle/>
          <a:p>
            <a:pPr algn="l">
              <a:lnSpc>
                <a:spcPts val="7840"/>
              </a:lnSpc>
            </a:pPr>
            <a:r>
              <a:rPr lang="en-US" sz="5600">
                <a:solidFill>
                  <a:srgbClr val="C1E59F"/>
                </a:solidFill>
                <a:latin typeface="Anton"/>
                <a:ea typeface="Anton"/>
                <a:cs typeface="Anton"/>
                <a:sym typeface="Anton"/>
              </a:rPr>
              <a:t>DATA UNDERSTANDING</a:t>
            </a:r>
          </a:p>
        </p:txBody>
      </p:sp>
      <p:sp>
        <p:nvSpPr>
          <p:cNvPr id="11" name="TextBox 11"/>
          <p:cNvSpPr txBox="1"/>
          <p:nvPr/>
        </p:nvSpPr>
        <p:spPr>
          <a:xfrm>
            <a:off x="1145175" y="8045736"/>
            <a:ext cx="17142825" cy="2966085"/>
          </a:xfrm>
          <a:prstGeom prst="rect">
            <a:avLst/>
          </a:prstGeom>
        </p:spPr>
        <p:txBody>
          <a:bodyPr lIns="0" tIns="0" rIns="0" bIns="0" rtlCol="0" anchor="t">
            <a:spAutoFit/>
          </a:bodyPr>
          <a:lstStyle/>
          <a:p>
            <a:pPr algn="l">
              <a:lnSpc>
                <a:spcPts val="2940"/>
              </a:lnSpc>
            </a:pPr>
            <a:r>
              <a:rPr lang="en-US" sz="2100">
                <a:solidFill>
                  <a:srgbClr val="FFFFFF"/>
                </a:solidFill>
                <a:latin typeface="Arial"/>
                <a:ea typeface="Arial"/>
                <a:cs typeface="Arial"/>
                <a:sym typeface="Arial"/>
              </a:rPr>
              <a:t>DATA SET:</a:t>
            </a:r>
          </a:p>
          <a:p>
            <a:pPr algn="l">
              <a:lnSpc>
                <a:spcPts val="2940"/>
              </a:lnSpc>
            </a:pPr>
            <a:r>
              <a:rPr lang="en-US" sz="2100">
                <a:solidFill>
                  <a:srgbClr val="FFFFFF"/>
                </a:solidFill>
                <a:latin typeface="Arial"/>
                <a:ea typeface="Arial"/>
                <a:cs typeface="Arial"/>
                <a:sym typeface="Arial"/>
              </a:rPr>
              <a:t>      Data set yang digunakan adalah Employee Data, yang berisi informasi mengenai data karyawan dan berbagai karakteristik yang berkaitan dengan pekerjaan serta performance karyawan.</a:t>
            </a:r>
          </a:p>
          <a:p>
            <a:pPr algn="l">
              <a:lnSpc>
                <a:spcPts val="2940"/>
              </a:lnSpc>
            </a:pPr>
            <a:r>
              <a:rPr lang="en-US" sz="2100">
                <a:solidFill>
                  <a:srgbClr val="FFFFFF"/>
                </a:solidFill>
                <a:latin typeface="Arial"/>
                <a:ea typeface="Arial"/>
                <a:cs typeface="Arial"/>
                <a:sym typeface="Arial"/>
              </a:rPr>
              <a:t>UKURAN DATA:</a:t>
            </a:r>
          </a:p>
          <a:p>
            <a:pPr marL="453390" lvl="1" indent="-226695" algn="l">
              <a:lnSpc>
                <a:spcPts val="2940"/>
              </a:lnSpc>
              <a:buFont typeface="Arial"/>
              <a:buChar char="•"/>
            </a:pPr>
            <a:r>
              <a:rPr lang="en-US" sz="2100">
                <a:solidFill>
                  <a:srgbClr val="FFFFFF"/>
                </a:solidFill>
                <a:latin typeface="Arial"/>
                <a:ea typeface="Arial"/>
                <a:cs typeface="Arial"/>
                <a:sym typeface="Arial"/>
              </a:rPr>
              <a:t>3.000 data karyawan</a:t>
            </a:r>
          </a:p>
          <a:p>
            <a:pPr marL="453390" lvl="1" indent="-226695" algn="l">
              <a:lnSpc>
                <a:spcPts val="2940"/>
              </a:lnSpc>
              <a:buFont typeface="Arial"/>
              <a:buChar char="•"/>
            </a:pPr>
            <a:r>
              <a:rPr lang="en-US" sz="2100">
                <a:solidFill>
                  <a:srgbClr val="FFFFFF"/>
                </a:solidFill>
                <a:latin typeface="Arial"/>
                <a:ea typeface="Arial"/>
                <a:cs typeface="Arial"/>
                <a:sym typeface="Arial"/>
              </a:rPr>
              <a:t>26 kolom/variabel</a:t>
            </a:r>
          </a:p>
          <a:p>
            <a:pPr algn="l">
              <a:lnSpc>
                <a:spcPts val="2940"/>
              </a:lnSpc>
            </a:pPr>
            <a:endParaRPr lang="en-US" sz="2100">
              <a:solidFill>
                <a:srgbClr val="FFFFFF"/>
              </a:solidFill>
              <a:latin typeface="Arial"/>
              <a:ea typeface="Arial"/>
              <a:cs typeface="Arial"/>
              <a:sym typeface="Arial"/>
            </a:endParaRPr>
          </a:p>
          <a:p>
            <a:pPr algn="l">
              <a:lnSpc>
                <a:spcPts val="2940"/>
              </a:lnSpc>
              <a:spcBef>
                <a:spcPct val="0"/>
              </a:spcBef>
            </a:pPr>
            <a:endParaRPr lang="en-US" sz="2100">
              <a:solidFill>
                <a:srgbClr val="FFFFFF"/>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3403247" y="1072989"/>
            <a:ext cx="1211445" cy="681586"/>
            <a:chOff x="0" y="0"/>
            <a:chExt cx="319064" cy="179512"/>
          </a:xfrm>
        </p:grpSpPr>
        <p:sp>
          <p:nvSpPr>
            <p:cNvPr id="3" name="Freeform 3"/>
            <p:cNvSpPr/>
            <p:nvPr/>
          </p:nvSpPr>
          <p:spPr>
            <a:xfrm>
              <a:off x="0" y="0"/>
              <a:ext cx="319064" cy="179512"/>
            </a:xfrm>
            <a:custGeom>
              <a:avLst/>
              <a:gdLst/>
              <a:ahLst/>
              <a:cxnLst/>
              <a:rect l="l" t="t" r="r" b="b"/>
              <a:pathLst>
                <a:path w="319064" h="179512">
                  <a:moveTo>
                    <a:pt x="89756" y="0"/>
                  </a:moveTo>
                  <a:lnTo>
                    <a:pt x="229308" y="0"/>
                  </a:lnTo>
                  <a:cubicBezTo>
                    <a:pt x="278879" y="0"/>
                    <a:pt x="319064" y="40185"/>
                    <a:pt x="319064" y="89756"/>
                  </a:cubicBezTo>
                  <a:lnTo>
                    <a:pt x="319064" y="89756"/>
                  </a:lnTo>
                  <a:cubicBezTo>
                    <a:pt x="319064" y="113561"/>
                    <a:pt x="309607" y="136391"/>
                    <a:pt x="292775" y="153223"/>
                  </a:cubicBezTo>
                  <a:cubicBezTo>
                    <a:pt x="275942" y="170056"/>
                    <a:pt x="253112" y="179512"/>
                    <a:pt x="229308" y="179512"/>
                  </a:cubicBezTo>
                  <a:lnTo>
                    <a:pt x="89756" y="179512"/>
                  </a:lnTo>
                  <a:cubicBezTo>
                    <a:pt x="40185" y="179512"/>
                    <a:pt x="0" y="139327"/>
                    <a:pt x="0" y="89756"/>
                  </a:cubicBezTo>
                  <a:lnTo>
                    <a:pt x="0" y="89756"/>
                  </a:lnTo>
                  <a:cubicBezTo>
                    <a:pt x="0" y="40185"/>
                    <a:pt x="40185" y="0"/>
                    <a:pt x="89756" y="0"/>
                  </a:cubicBezTo>
                  <a:close/>
                </a:path>
              </a:pathLst>
            </a:custGeom>
            <a:ln w="19050" cap="rnd">
              <a:solidFill>
                <a:srgbClr val="77B254"/>
              </a:solidFill>
              <a:prstDash val="solid"/>
              <a:round/>
            </a:ln>
          </p:spPr>
        </p:sp>
        <p:sp>
          <p:nvSpPr>
            <p:cNvPr id="4" name="TextBox 4"/>
            <p:cNvSpPr txBox="1"/>
            <p:nvPr/>
          </p:nvSpPr>
          <p:spPr>
            <a:xfrm>
              <a:off x="0" y="-38100"/>
              <a:ext cx="319064" cy="217612"/>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2270630"/>
            <a:ext cx="5093339" cy="0"/>
          </a:xfrm>
          <a:prstGeom prst="line">
            <a:avLst/>
          </a:prstGeom>
          <a:ln w="19050" cap="flat">
            <a:solidFill>
              <a:srgbClr val="FFFFFF"/>
            </a:solidFill>
            <a:prstDash val="solid"/>
            <a:headEnd type="none" w="sm" len="sm"/>
            <a:tailEnd type="none" w="sm" len="sm"/>
          </a:ln>
        </p:spPr>
      </p:sp>
      <p:sp>
        <p:nvSpPr>
          <p:cNvPr id="6" name="Freeform 6"/>
          <p:cNvSpPr/>
          <p:nvPr/>
        </p:nvSpPr>
        <p:spPr>
          <a:xfrm>
            <a:off x="1028700" y="3229152"/>
            <a:ext cx="1627856" cy="1530940"/>
          </a:xfrm>
          <a:custGeom>
            <a:avLst/>
            <a:gdLst/>
            <a:ahLst/>
            <a:cxnLst/>
            <a:rect l="l" t="t" r="r" b="b"/>
            <a:pathLst>
              <a:path w="1627856" h="1530940">
                <a:moveTo>
                  <a:pt x="0" y="0"/>
                </a:moveTo>
                <a:lnTo>
                  <a:pt x="1627856" y="0"/>
                </a:lnTo>
                <a:lnTo>
                  <a:pt x="1627856" y="1530940"/>
                </a:lnTo>
                <a:lnTo>
                  <a:pt x="0" y="1530940"/>
                </a:lnTo>
                <a:lnTo>
                  <a:pt x="0" y="0"/>
                </a:lnTo>
                <a:close/>
              </a:path>
            </a:pathLst>
          </a:custGeom>
          <a:blipFill>
            <a:blip r:embed="rId2"/>
            <a:stretch>
              <a:fillRect/>
            </a:stretch>
          </a:blipFill>
        </p:spPr>
      </p:sp>
      <p:sp>
        <p:nvSpPr>
          <p:cNvPr id="7" name="TextBox 7"/>
          <p:cNvSpPr txBox="1"/>
          <p:nvPr/>
        </p:nvSpPr>
        <p:spPr>
          <a:xfrm>
            <a:off x="13480424"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8" name="TextBox 8"/>
          <p:cNvSpPr txBox="1"/>
          <p:nvPr/>
        </p:nvSpPr>
        <p:spPr>
          <a:xfrm>
            <a:off x="11237226"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9" name="TextBox 9"/>
          <p:cNvSpPr txBox="1"/>
          <p:nvPr/>
        </p:nvSpPr>
        <p:spPr>
          <a:xfrm>
            <a:off x="15458039" y="1213269"/>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10" name="TextBox 10"/>
          <p:cNvSpPr txBox="1"/>
          <p:nvPr/>
        </p:nvSpPr>
        <p:spPr>
          <a:xfrm>
            <a:off x="1028700" y="1244078"/>
            <a:ext cx="7495537" cy="953135"/>
          </a:xfrm>
          <a:prstGeom prst="rect">
            <a:avLst/>
          </a:prstGeom>
        </p:spPr>
        <p:txBody>
          <a:bodyPr lIns="0" tIns="0" rIns="0" bIns="0" rtlCol="0" anchor="t">
            <a:spAutoFit/>
          </a:bodyPr>
          <a:lstStyle/>
          <a:p>
            <a:pPr algn="l">
              <a:lnSpc>
                <a:spcPts val="7840"/>
              </a:lnSpc>
            </a:pPr>
            <a:r>
              <a:rPr lang="en-US" sz="5600">
                <a:solidFill>
                  <a:srgbClr val="C1E59F"/>
                </a:solidFill>
                <a:latin typeface="Anton"/>
                <a:ea typeface="Anton"/>
                <a:cs typeface="Anton"/>
                <a:sym typeface="Anton"/>
              </a:rPr>
              <a:t>DATA PREPARATION</a:t>
            </a:r>
          </a:p>
        </p:txBody>
      </p:sp>
      <p:sp>
        <p:nvSpPr>
          <p:cNvPr id="11" name="TextBox 11"/>
          <p:cNvSpPr txBox="1"/>
          <p:nvPr/>
        </p:nvSpPr>
        <p:spPr>
          <a:xfrm>
            <a:off x="1028700" y="5642414"/>
            <a:ext cx="10998340" cy="1962142"/>
          </a:xfrm>
          <a:prstGeom prst="rect">
            <a:avLst/>
          </a:prstGeom>
        </p:spPr>
        <p:txBody>
          <a:bodyPr lIns="0" tIns="0" rIns="0" bIns="0" rtlCol="0" anchor="t">
            <a:spAutoFit/>
          </a:bodyPr>
          <a:lstStyle/>
          <a:p>
            <a:pPr algn="just">
              <a:lnSpc>
                <a:spcPts val="3890"/>
              </a:lnSpc>
            </a:pPr>
            <a:r>
              <a:rPr lang="en-US" sz="2778">
                <a:solidFill>
                  <a:srgbClr val="C1E59F"/>
                </a:solidFill>
                <a:latin typeface="Arial"/>
                <a:ea typeface="Arial"/>
                <a:cs typeface="Arial"/>
                <a:sym typeface="Arial"/>
              </a:rPr>
              <a:t>Data Cleaning → menghapus cell yang kosong.</a:t>
            </a:r>
          </a:p>
          <a:p>
            <a:pPr algn="just">
              <a:lnSpc>
                <a:spcPts val="3890"/>
              </a:lnSpc>
            </a:pPr>
            <a:r>
              <a:rPr lang="en-US" sz="2778">
                <a:solidFill>
                  <a:srgbClr val="C1E59F"/>
                </a:solidFill>
                <a:latin typeface="Arial"/>
                <a:ea typeface="Arial"/>
                <a:cs typeface="Arial"/>
                <a:sym typeface="Arial"/>
              </a:rPr>
              <a:t>Calculated Field → membuat field baru</a:t>
            </a:r>
          </a:p>
          <a:p>
            <a:pPr algn="just">
              <a:lnSpc>
                <a:spcPts val="3890"/>
              </a:lnSpc>
            </a:pPr>
            <a:r>
              <a:rPr lang="en-US" sz="2778">
                <a:solidFill>
                  <a:srgbClr val="C1E59F"/>
                </a:solidFill>
                <a:latin typeface="Arial"/>
                <a:ea typeface="Arial"/>
                <a:cs typeface="Arial"/>
                <a:sym typeface="Arial"/>
              </a:rPr>
              <a:t>Filter &amp; Parameter → membangun dashboard</a:t>
            </a:r>
          </a:p>
          <a:p>
            <a:pPr algn="just">
              <a:lnSpc>
                <a:spcPts val="3890"/>
              </a:lnSpc>
            </a:pPr>
            <a:r>
              <a:rPr lang="en-US" sz="2778">
                <a:solidFill>
                  <a:srgbClr val="C1E59F"/>
                </a:solidFill>
                <a:latin typeface="Arial"/>
                <a:ea typeface="Arial"/>
                <a:cs typeface="Arial"/>
                <a:sym typeface="Arial"/>
              </a:rPr>
              <a:t>interaktif.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3329896" y="1072989"/>
            <a:ext cx="1353524" cy="643795"/>
            <a:chOff x="0" y="0"/>
            <a:chExt cx="356484" cy="169559"/>
          </a:xfrm>
        </p:grpSpPr>
        <p:sp>
          <p:nvSpPr>
            <p:cNvPr id="3" name="Freeform 3"/>
            <p:cNvSpPr/>
            <p:nvPr/>
          </p:nvSpPr>
          <p:spPr>
            <a:xfrm>
              <a:off x="0" y="0"/>
              <a:ext cx="356484" cy="169559"/>
            </a:xfrm>
            <a:custGeom>
              <a:avLst/>
              <a:gdLst/>
              <a:ahLst/>
              <a:cxnLst/>
              <a:rect l="l" t="t" r="r" b="b"/>
              <a:pathLst>
                <a:path w="356484" h="169559">
                  <a:moveTo>
                    <a:pt x="84780" y="0"/>
                  </a:moveTo>
                  <a:lnTo>
                    <a:pt x="271704" y="0"/>
                  </a:lnTo>
                  <a:cubicBezTo>
                    <a:pt x="294189" y="0"/>
                    <a:pt x="315753" y="8932"/>
                    <a:pt x="331652" y="24831"/>
                  </a:cubicBezTo>
                  <a:cubicBezTo>
                    <a:pt x="347552" y="40731"/>
                    <a:pt x="356484" y="62295"/>
                    <a:pt x="356484" y="84780"/>
                  </a:cubicBezTo>
                  <a:lnTo>
                    <a:pt x="356484" y="84780"/>
                  </a:lnTo>
                  <a:cubicBezTo>
                    <a:pt x="356484" y="107265"/>
                    <a:pt x="347552" y="128829"/>
                    <a:pt x="331652" y="144728"/>
                  </a:cubicBezTo>
                  <a:cubicBezTo>
                    <a:pt x="315753" y="160627"/>
                    <a:pt x="294189" y="169559"/>
                    <a:pt x="271704" y="169559"/>
                  </a:cubicBezTo>
                  <a:lnTo>
                    <a:pt x="84780" y="169559"/>
                  </a:lnTo>
                  <a:cubicBezTo>
                    <a:pt x="62295" y="169559"/>
                    <a:pt x="40731" y="160627"/>
                    <a:pt x="24831" y="144728"/>
                  </a:cubicBezTo>
                  <a:cubicBezTo>
                    <a:pt x="8932" y="128829"/>
                    <a:pt x="0" y="107265"/>
                    <a:pt x="0" y="84780"/>
                  </a:cubicBezTo>
                  <a:lnTo>
                    <a:pt x="0" y="84780"/>
                  </a:lnTo>
                  <a:cubicBezTo>
                    <a:pt x="0" y="62295"/>
                    <a:pt x="8932" y="40731"/>
                    <a:pt x="24831" y="24831"/>
                  </a:cubicBezTo>
                  <a:cubicBezTo>
                    <a:pt x="40731" y="8932"/>
                    <a:pt x="62295" y="0"/>
                    <a:pt x="84780" y="0"/>
                  </a:cubicBezTo>
                  <a:close/>
                </a:path>
              </a:pathLst>
            </a:custGeom>
            <a:ln w="19050" cap="rnd">
              <a:solidFill>
                <a:srgbClr val="77B254"/>
              </a:solidFill>
              <a:prstDash val="solid"/>
              <a:round/>
            </a:ln>
          </p:spPr>
        </p:sp>
        <p:sp>
          <p:nvSpPr>
            <p:cNvPr id="4" name="TextBox 4"/>
            <p:cNvSpPr txBox="1"/>
            <p:nvPr/>
          </p:nvSpPr>
          <p:spPr>
            <a:xfrm>
              <a:off x="0" y="-38100"/>
              <a:ext cx="356484" cy="207659"/>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541523" y="3429000"/>
            <a:ext cx="15204955" cy="5207653"/>
          </a:xfrm>
          <a:custGeom>
            <a:avLst/>
            <a:gdLst/>
            <a:ahLst/>
            <a:cxnLst/>
            <a:rect l="l" t="t" r="r" b="b"/>
            <a:pathLst>
              <a:path w="15204955" h="5207653">
                <a:moveTo>
                  <a:pt x="0" y="0"/>
                </a:moveTo>
                <a:lnTo>
                  <a:pt x="15204954" y="0"/>
                </a:lnTo>
                <a:lnTo>
                  <a:pt x="15204954" y="5207653"/>
                </a:lnTo>
                <a:lnTo>
                  <a:pt x="0" y="5207653"/>
                </a:lnTo>
                <a:lnTo>
                  <a:pt x="0" y="0"/>
                </a:lnTo>
                <a:close/>
              </a:path>
            </a:pathLst>
          </a:custGeom>
          <a:blipFill>
            <a:blip r:embed="rId2"/>
            <a:stretch>
              <a:fillRect/>
            </a:stretch>
          </a:blipFill>
        </p:spPr>
      </p:sp>
      <p:sp>
        <p:nvSpPr>
          <p:cNvPr id="6" name="TextBox 6"/>
          <p:cNvSpPr txBox="1"/>
          <p:nvPr/>
        </p:nvSpPr>
        <p:spPr>
          <a:xfrm>
            <a:off x="13480424"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7" name="TextBox 7"/>
          <p:cNvSpPr txBox="1"/>
          <p:nvPr/>
        </p:nvSpPr>
        <p:spPr>
          <a:xfrm>
            <a:off x="11237226"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8" name="TextBox 8"/>
          <p:cNvSpPr txBox="1"/>
          <p:nvPr/>
        </p:nvSpPr>
        <p:spPr>
          <a:xfrm>
            <a:off x="15458039" y="1213269"/>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9" name="TextBox 9"/>
          <p:cNvSpPr txBox="1"/>
          <p:nvPr/>
        </p:nvSpPr>
        <p:spPr>
          <a:xfrm>
            <a:off x="1062533" y="953203"/>
            <a:ext cx="6617111" cy="953135"/>
          </a:xfrm>
          <a:prstGeom prst="rect">
            <a:avLst/>
          </a:prstGeom>
        </p:spPr>
        <p:txBody>
          <a:bodyPr lIns="0" tIns="0" rIns="0" bIns="0" rtlCol="0" anchor="t">
            <a:spAutoFit/>
          </a:bodyPr>
          <a:lstStyle/>
          <a:p>
            <a:pPr algn="l">
              <a:lnSpc>
                <a:spcPts val="7840"/>
              </a:lnSpc>
            </a:pPr>
            <a:r>
              <a:rPr lang="en-US" sz="5600">
                <a:solidFill>
                  <a:srgbClr val="C1E59F"/>
                </a:solidFill>
                <a:latin typeface="Anton"/>
                <a:ea typeface="Anton"/>
                <a:cs typeface="Anton"/>
                <a:sym typeface="Anton"/>
              </a:rPr>
              <a:t>DASHBOARD DESIGN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3345673" y="1072989"/>
            <a:ext cx="1281720" cy="690475"/>
            <a:chOff x="0" y="0"/>
            <a:chExt cx="337572" cy="181853"/>
          </a:xfrm>
        </p:grpSpPr>
        <p:sp>
          <p:nvSpPr>
            <p:cNvPr id="3" name="Freeform 3"/>
            <p:cNvSpPr/>
            <p:nvPr/>
          </p:nvSpPr>
          <p:spPr>
            <a:xfrm>
              <a:off x="0" y="0"/>
              <a:ext cx="337572" cy="181853"/>
            </a:xfrm>
            <a:custGeom>
              <a:avLst/>
              <a:gdLst/>
              <a:ahLst/>
              <a:cxnLst/>
              <a:rect l="l" t="t" r="r" b="b"/>
              <a:pathLst>
                <a:path w="337572" h="181853">
                  <a:moveTo>
                    <a:pt x="90927" y="0"/>
                  </a:moveTo>
                  <a:lnTo>
                    <a:pt x="246646" y="0"/>
                  </a:lnTo>
                  <a:cubicBezTo>
                    <a:pt x="296863" y="0"/>
                    <a:pt x="337572" y="40709"/>
                    <a:pt x="337572" y="90927"/>
                  </a:cubicBezTo>
                  <a:lnTo>
                    <a:pt x="337572" y="90927"/>
                  </a:lnTo>
                  <a:cubicBezTo>
                    <a:pt x="337572" y="115042"/>
                    <a:pt x="327993" y="138170"/>
                    <a:pt x="310941" y="155222"/>
                  </a:cubicBezTo>
                  <a:cubicBezTo>
                    <a:pt x="293888" y="172274"/>
                    <a:pt x="270761" y="181853"/>
                    <a:pt x="246646" y="181853"/>
                  </a:cubicBezTo>
                  <a:lnTo>
                    <a:pt x="90927" y="181853"/>
                  </a:lnTo>
                  <a:cubicBezTo>
                    <a:pt x="40709" y="181853"/>
                    <a:pt x="0" y="141144"/>
                    <a:pt x="0" y="90927"/>
                  </a:cubicBezTo>
                  <a:lnTo>
                    <a:pt x="0" y="90927"/>
                  </a:lnTo>
                  <a:cubicBezTo>
                    <a:pt x="0" y="40709"/>
                    <a:pt x="40709" y="0"/>
                    <a:pt x="90927" y="0"/>
                  </a:cubicBezTo>
                  <a:close/>
                </a:path>
              </a:pathLst>
            </a:custGeom>
            <a:ln w="19050" cap="rnd">
              <a:solidFill>
                <a:srgbClr val="77B254"/>
              </a:solidFill>
              <a:prstDash val="solid"/>
              <a:round/>
            </a:ln>
          </p:spPr>
        </p:sp>
        <p:sp>
          <p:nvSpPr>
            <p:cNvPr id="4" name="TextBox 4"/>
            <p:cNvSpPr txBox="1"/>
            <p:nvPr/>
          </p:nvSpPr>
          <p:spPr>
            <a:xfrm>
              <a:off x="0" y="-38100"/>
              <a:ext cx="337572" cy="219953"/>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1984880"/>
            <a:ext cx="7648860" cy="0"/>
          </a:xfrm>
          <a:prstGeom prst="line">
            <a:avLst/>
          </a:prstGeom>
          <a:ln w="19050" cap="flat">
            <a:solidFill>
              <a:srgbClr val="FFFFFF"/>
            </a:solidFill>
            <a:prstDash val="solid"/>
            <a:headEnd type="none" w="sm" len="sm"/>
            <a:tailEnd type="none" w="sm" len="sm"/>
          </a:ln>
        </p:spPr>
      </p:sp>
      <p:sp>
        <p:nvSpPr>
          <p:cNvPr id="6" name="Freeform 6"/>
          <p:cNvSpPr/>
          <p:nvPr/>
        </p:nvSpPr>
        <p:spPr>
          <a:xfrm>
            <a:off x="1008453" y="2847011"/>
            <a:ext cx="9541280" cy="5618473"/>
          </a:xfrm>
          <a:custGeom>
            <a:avLst/>
            <a:gdLst/>
            <a:ahLst/>
            <a:cxnLst/>
            <a:rect l="l" t="t" r="r" b="b"/>
            <a:pathLst>
              <a:path w="9541280" h="5618473">
                <a:moveTo>
                  <a:pt x="0" y="0"/>
                </a:moveTo>
                <a:lnTo>
                  <a:pt x="9541281" y="0"/>
                </a:lnTo>
                <a:lnTo>
                  <a:pt x="9541281" y="5618473"/>
                </a:lnTo>
                <a:lnTo>
                  <a:pt x="0" y="5618473"/>
                </a:lnTo>
                <a:lnTo>
                  <a:pt x="0" y="0"/>
                </a:lnTo>
                <a:close/>
              </a:path>
            </a:pathLst>
          </a:custGeom>
          <a:blipFill>
            <a:blip r:embed="rId2"/>
            <a:stretch>
              <a:fillRect/>
            </a:stretch>
          </a:blipFill>
        </p:spPr>
      </p:sp>
      <p:sp>
        <p:nvSpPr>
          <p:cNvPr id="7" name="TextBox 7"/>
          <p:cNvSpPr txBox="1"/>
          <p:nvPr/>
        </p:nvSpPr>
        <p:spPr>
          <a:xfrm>
            <a:off x="13480424"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8" name="TextBox 8"/>
          <p:cNvSpPr txBox="1"/>
          <p:nvPr/>
        </p:nvSpPr>
        <p:spPr>
          <a:xfrm>
            <a:off x="11237226"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9" name="TextBox 9"/>
          <p:cNvSpPr txBox="1"/>
          <p:nvPr/>
        </p:nvSpPr>
        <p:spPr>
          <a:xfrm>
            <a:off x="15458039" y="1213269"/>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10" name="TextBox 10"/>
          <p:cNvSpPr txBox="1"/>
          <p:nvPr/>
        </p:nvSpPr>
        <p:spPr>
          <a:xfrm>
            <a:off x="1028700" y="958328"/>
            <a:ext cx="8115300" cy="953135"/>
          </a:xfrm>
          <a:prstGeom prst="rect">
            <a:avLst/>
          </a:prstGeom>
        </p:spPr>
        <p:txBody>
          <a:bodyPr lIns="0" tIns="0" rIns="0" bIns="0" rtlCol="0" anchor="t">
            <a:spAutoFit/>
          </a:bodyPr>
          <a:lstStyle/>
          <a:p>
            <a:pPr algn="l">
              <a:lnSpc>
                <a:spcPts val="7840"/>
              </a:lnSpc>
            </a:pPr>
            <a:r>
              <a:rPr lang="en-US" sz="5600">
                <a:solidFill>
                  <a:srgbClr val="C1E59F"/>
                </a:solidFill>
                <a:latin typeface="Anton"/>
                <a:ea typeface="Anton"/>
                <a:cs typeface="Anton"/>
                <a:sym typeface="Anton"/>
              </a:rPr>
              <a:t>ANALYSIS 1</a:t>
            </a:r>
          </a:p>
        </p:txBody>
      </p:sp>
      <p:sp>
        <p:nvSpPr>
          <p:cNvPr id="11" name="TextBox 11"/>
          <p:cNvSpPr txBox="1"/>
          <p:nvPr/>
        </p:nvSpPr>
        <p:spPr>
          <a:xfrm>
            <a:off x="10549734" y="2770811"/>
            <a:ext cx="7050774" cy="3255011"/>
          </a:xfrm>
          <a:prstGeom prst="rect">
            <a:avLst/>
          </a:prstGeom>
        </p:spPr>
        <p:txBody>
          <a:bodyPr lIns="0" tIns="0" rIns="0" bIns="0" rtlCol="0" anchor="t">
            <a:spAutoFit/>
          </a:bodyPr>
          <a:lstStyle/>
          <a:p>
            <a:pPr marL="669285" lvl="1" indent="-334642" algn="l">
              <a:lnSpc>
                <a:spcPts val="4339"/>
              </a:lnSpc>
              <a:buFont typeface="Arial"/>
              <a:buChar char="•"/>
            </a:pPr>
            <a:r>
              <a:rPr lang="en-US" sz="3099">
                <a:solidFill>
                  <a:srgbClr val="FFFFFF"/>
                </a:solidFill>
                <a:latin typeface="Arial"/>
                <a:ea typeface="Arial"/>
                <a:cs typeface="Arial"/>
                <a:sym typeface="Arial"/>
              </a:rPr>
              <a:t>Department Admin Offices memiliki rata-rata karyawan dengan rating di atas 3</a:t>
            </a:r>
          </a:p>
          <a:p>
            <a:pPr marL="669285" lvl="1" indent="-334642" algn="l">
              <a:lnSpc>
                <a:spcPts val="4339"/>
              </a:lnSpc>
              <a:spcBef>
                <a:spcPct val="0"/>
              </a:spcBef>
              <a:buFont typeface="Arial"/>
              <a:buChar char="•"/>
            </a:pPr>
            <a:r>
              <a:rPr lang="en-US" sz="3099">
                <a:solidFill>
                  <a:srgbClr val="FFFFFF"/>
                </a:solidFill>
                <a:latin typeface="Arial"/>
                <a:ea typeface="Arial"/>
                <a:cs typeface="Arial"/>
                <a:sym typeface="Arial"/>
              </a:rPr>
              <a:t>Department Executive Office memiliki rata-rata karyawan dengan rating di bawah 2,8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3388917" y="1072989"/>
            <a:ext cx="1280731" cy="661114"/>
            <a:chOff x="0" y="0"/>
            <a:chExt cx="337312" cy="174121"/>
          </a:xfrm>
        </p:grpSpPr>
        <p:sp>
          <p:nvSpPr>
            <p:cNvPr id="3" name="Freeform 3"/>
            <p:cNvSpPr/>
            <p:nvPr/>
          </p:nvSpPr>
          <p:spPr>
            <a:xfrm>
              <a:off x="0" y="0"/>
              <a:ext cx="337312" cy="174121"/>
            </a:xfrm>
            <a:custGeom>
              <a:avLst/>
              <a:gdLst/>
              <a:ahLst/>
              <a:cxnLst/>
              <a:rect l="l" t="t" r="r" b="b"/>
              <a:pathLst>
                <a:path w="337312" h="174121">
                  <a:moveTo>
                    <a:pt x="87060" y="0"/>
                  </a:moveTo>
                  <a:lnTo>
                    <a:pt x="250252" y="0"/>
                  </a:lnTo>
                  <a:cubicBezTo>
                    <a:pt x="273341" y="0"/>
                    <a:pt x="295486" y="9172"/>
                    <a:pt x="311813" y="25499"/>
                  </a:cubicBezTo>
                  <a:cubicBezTo>
                    <a:pt x="328139" y="41826"/>
                    <a:pt x="337312" y="63971"/>
                    <a:pt x="337312" y="87060"/>
                  </a:cubicBezTo>
                  <a:lnTo>
                    <a:pt x="337312" y="87060"/>
                  </a:lnTo>
                  <a:cubicBezTo>
                    <a:pt x="337312" y="135142"/>
                    <a:pt x="298334" y="174121"/>
                    <a:pt x="250252" y="174121"/>
                  </a:cubicBezTo>
                  <a:lnTo>
                    <a:pt x="87060" y="174121"/>
                  </a:lnTo>
                  <a:cubicBezTo>
                    <a:pt x="38978" y="174121"/>
                    <a:pt x="0" y="135142"/>
                    <a:pt x="0" y="87060"/>
                  </a:cubicBezTo>
                  <a:lnTo>
                    <a:pt x="0" y="87060"/>
                  </a:lnTo>
                  <a:cubicBezTo>
                    <a:pt x="0" y="38978"/>
                    <a:pt x="38978" y="0"/>
                    <a:pt x="87060" y="0"/>
                  </a:cubicBezTo>
                  <a:close/>
                </a:path>
              </a:pathLst>
            </a:custGeom>
            <a:ln w="19050" cap="rnd">
              <a:solidFill>
                <a:srgbClr val="77B254"/>
              </a:solidFill>
              <a:prstDash val="solid"/>
              <a:round/>
            </a:ln>
          </p:spPr>
        </p:sp>
        <p:sp>
          <p:nvSpPr>
            <p:cNvPr id="4" name="TextBox 4"/>
            <p:cNvSpPr txBox="1"/>
            <p:nvPr/>
          </p:nvSpPr>
          <p:spPr>
            <a:xfrm>
              <a:off x="0" y="-38100"/>
              <a:ext cx="337312" cy="212221"/>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flipV="1">
            <a:off x="1028700" y="1911920"/>
            <a:ext cx="5334027" cy="0"/>
          </a:xfrm>
          <a:prstGeom prst="line">
            <a:avLst/>
          </a:prstGeom>
          <a:ln w="19050" cap="flat">
            <a:solidFill>
              <a:srgbClr val="FFFFFF"/>
            </a:solidFill>
            <a:prstDash val="solid"/>
            <a:headEnd type="none" w="sm" len="sm"/>
            <a:tailEnd type="none" w="sm" len="sm"/>
          </a:ln>
        </p:spPr>
      </p:sp>
      <p:sp>
        <p:nvSpPr>
          <p:cNvPr id="6" name="Freeform 6"/>
          <p:cNvSpPr/>
          <p:nvPr/>
        </p:nvSpPr>
        <p:spPr>
          <a:xfrm>
            <a:off x="1028700" y="3121725"/>
            <a:ext cx="10208526" cy="6135976"/>
          </a:xfrm>
          <a:custGeom>
            <a:avLst/>
            <a:gdLst/>
            <a:ahLst/>
            <a:cxnLst/>
            <a:rect l="l" t="t" r="r" b="b"/>
            <a:pathLst>
              <a:path w="10208526" h="6135976">
                <a:moveTo>
                  <a:pt x="0" y="0"/>
                </a:moveTo>
                <a:lnTo>
                  <a:pt x="10208526" y="0"/>
                </a:lnTo>
                <a:lnTo>
                  <a:pt x="10208526" y="6135976"/>
                </a:lnTo>
                <a:lnTo>
                  <a:pt x="0" y="6135976"/>
                </a:lnTo>
                <a:lnTo>
                  <a:pt x="0" y="0"/>
                </a:lnTo>
                <a:close/>
              </a:path>
            </a:pathLst>
          </a:custGeom>
          <a:blipFill>
            <a:blip r:embed="rId2"/>
            <a:stretch>
              <a:fillRect/>
            </a:stretch>
          </a:blipFill>
        </p:spPr>
      </p:sp>
      <p:sp>
        <p:nvSpPr>
          <p:cNvPr id="7" name="TextBox 7"/>
          <p:cNvSpPr txBox="1"/>
          <p:nvPr/>
        </p:nvSpPr>
        <p:spPr>
          <a:xfrm>
            <a:off x="13519729"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8" name="TextBox 8"/>
          <p:cNvSpPr txBox="1"/>
          <p:nvPr/>
        </p:nvSpPr>
        <p:spPr>
          <a:xfrm>
            <a:off x="11237226"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9" name="TextBox 9"/>
          <p:cNvSpPr txBox="1"/>
          <p:nvPr/>
        </p:nvSpPr>
        <p:spPr>
          <a:xfrm>
            <a:off x="15458039" y="1213269"/>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10" name="TextBox 10"/>
          <p:cNvSpPr txBox="1"/>
          <p:nvPr/>
        </p:nvSpPr>
        <p:spPr>
          <a:xfrm>
            <a:off x="1028700" y="923925"/>
            <a:ext cx="6076450" cy="953135"/>
          </a:xfrm>
          <a:prstGeom prst="rect">
            <a:avLst/>
          </a:prstGeom>
        </p:spPr>
        <p:txBody>
          <a:bodyPr lIns="0" tIns="0" rIns="0" bIns="0" rtlCol="0" anchor="t">
            <a:spAutoFit/>
          </a:bodyPr>
          <a:lstStyle/>
          <a:p>
            <a:pPr algn="l">
              <a:lnSpc>
                <a:spcPts val="7840"/>
              </a:lnSpc>
            </a:pPr>
            <a:r>
              <a:rPr lang="en-US" sz="5600">
                <a:solidFill>
                  <a:srgbClr val="C1E59F"/>
                </a:solidFill>
                <a:latin typeface="Anton"/>
                <a:ea typeface="Anton"/>
                <a:cs typeface="Anton"/>
                <a:sym typeface="Anton"/>
              </a:rPr>
              <a:t>ANALYSIS 2</a:t>
            </a:r>
          </a:p>
        </p:txBody>
      </p:sp>
      <p:sp>
        <p:nvSpPr>
          <p:cNvPr id="11" name="TextBox 11"/>
          <p:cNvSpPr txBox="1"/>
          <p:nvPr/>
        </p:nvSpPr>
        <p:spPr>
          <a:xfrm>
            <a:off x="11399037" y="3026475"/>
            <a:ext cx="6541221" cy="2665212"/>
          </a:xfrm>
          <a:prstGeom prst="rect">
            <a:avLst/>
          </a:prstGeom>
        </p:spPr>
        <p:txBody>
          <a:bodyPr lIns="0" tIns="0" rIns="0" bIns="0" rtlCol="0" anchor="t">
            <a:spAutoFit/>
          </a:bodyPr>
          <a:lstStyle/>
          <a:p>
            <a:pPr marL="811128" lvl="1" indent="-405564" algn="l">
              <a:lnSpc>
                <a:spcPts val="5259"/>
              </a:lnSpc>
              <a:buFont typeface="Arial"/>
              <a:buChar char="•"/>
            </a:pPr>
            <a:r>
              <a:rPr lang="en-US" sz="3756">
                <a:solidFill>
                  <a:srgbClr val="FFFFFF"/>
                </a:solidFill>
                <a:latin typeface="Arial"/>
                <a:ea typeface="Arial"/>
                <a:cs typeface="Arial"/>
                <a:sym typeface="Arial"/>
              </a:rPr>
              <a:t>Karyawan dengan status aktif memiliki performance yang lebih baik dari karyawan yang tidak aktif.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3388917" y="1072989"/>
            <a:ext cx="1280731" cy="661114"/>
            <a:chOff x="0" y="0"/>
            <a:chExt cx="337312" cy="174121"/>
          </a:xfrm>
        </p:grpSpPr>
        <p:sp>
          <p:nvSpPr>
            <p:cNvPr id="3" name="Freeform 3"/>
            <p:cNvSpPr/>
            <p:nvPr/>
          </p:nvSpPr>
          <p:spPr>
            <a:xfrm>
              <a:off x="0" y="0"/>
              <a:ext cx="337312" cy="174121"/>
            </a:xfrm>
            <a:custGeom>
              <a:avLst/>
              <a:gdLst/>
              <a:ahLst/>
              <a:cxnLst/>
              <a:rect l="l" t="t" r="r" b="b"/>
              <a:pathLst>
                <a:path w="337312" h="174121">
                  <a:moveTo>
                    <a:pt x="87060" y="0"/>
                  </a:moveTo>
                  <a:lnTo>
                    <a:pt x="250252" y="0"/>
                  </a:lnTo>
                  <a:cubicBezTo>
                    <a:pt x="273341" y="0"/>
                    <a:pt x="295486" y="9172"/>
                    <a:pt x="311813" y="25499"/>
                  </a:cubicBezTo>
                  <a:cubicBezTo>
                    <a:pt x="328139" y="41826"/>
                    <a:pt x="337312" y="63971"/>
                    <a:pt x="337312" y="87060"/>
                  </a:cubicBezTo>
                  <a:lnTo>
                    <a:pt x="337312" y="87060"/>
                  </a:lnTo>
                  <a:cubicBezTo>
                    <a:pt x="337312" y="135142"/>
                    <a:pt x="298334" y="174121"/>
                    <a:pt x="250252" y="174121"/>
                  </a:cubicBezTo>
                  <a:lnTo>
                    <a:pt x="87060" y="174121"/>
                  </a:lnTo>
                  <a:cubicBezTo>
                    <a:pt x="38978" y="174121"/>
                    <a:pt x="0" y="135142"/>
                    <a:pt x="0" y="87060"/>
                  </a:cubicBezTo>
                  <a:lnTo>
                    <a:pt x="0" y="87060"/>
                  </a:lnTo>
                  <a:cubicBezTo>
                    <a:pt x="0" y="38978"/>
                    <a:pt x="38978" y="0"/>
                    <a:pt x="87060" y="0"/>
                  </a:cubicBezTo>
                  <a:close/>
                </a:path>
              </a:pathLst>
            </a:custGeom>
            <a:ln w="19050" cap="rnd">
              <a:solidFill>
                <a:srgbClr val="77B254"/>
              </a:solidFill>
              <a:prstDash val="solid"/>
              <a:round/>
            </a:ln>
          </p:spPr>
        </p:sp>
        <p:sp>
          <p:nvSpPr>
            <p:cNvPr id="4" name="TextBox 4"/>
            <p:cNvSpPr txBox="1"/>
            <p:nvPr/>
          </p:nvSpPr>
          <p:spPr>
            <a:xfrm>
              <a:off x="0" y="-38100"/>
              <a:ext cx="337312" cy="212221"/>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flipV="1">
            <a:off x="1028700" y="1911920"/>
            <a:ext cx="5334027" cy="0"/>
          </a:xfrm>
          <a:prstGeom prst="line">
            <a:avLst/>
          </a:prstGeom>
          <a:ln w="19050" cap="flat">
            <a:solidFill>
              <a:srgbClr val="FFFFFF"/>
            </a:solidFill>
            <a:prstDash val="solid"/>
            <a:headEnd type="none" w="sm" len="sm"/>
            <a:tailEnd type="none" w="sm" len="sm"/>
          </a:ln>
        </p:spPr>
      </p:sp>
      <p:sp>
        <p:nvSpPr>
          <p:cNvPr id="6" name="Freeform 6"/>
          <p:cNvSpPr/>
          <p:nvPr/>
        </p:nvSpPr>
        <p:spPr>
          <a:xfrm>
            <a:off x="1028700" y="2873185"/>
            <a:ext cx="10718079" cy="6611151"/>
          </a:xfrm>
          <a:custGeom>
            <a:avLst/>
            <a:gdLst/>
            <a:ahLst/>
            <a:cxnLst/>
            <a:rect l="l" t="t" r="r" b="b"/>
            <a:pathLst>
              <a:path w="10718079" h="6611151">
                <a:moveTo>
                  <a:pt x="0" y="0"/>
                </a:moveTo>
                <a:lnTo>
                  <a:pt x="10718079" y="0"/>
                </a:lnTo>
                <a:lnTo>
                  <a:pt x="10718079" y="6611151"/>
                </a:lnTo>
                <a:lnTo>
                  <a:pt x="0" y="6611151"/>
                </a:lnTo>
                <a:lnTo>
                  <a:pt x="0" y="0"/>
                </a:lnTo>
                <a:close/>
              </a:path>
            </a:pathLst>
          </a:custGeom>
          <a:blipFill>
            <a:blip r:embed="rId2"/>
            <a:stretch>
              <a:fillRect/>
            </a:stretch>
          </a:blipFill>
        </p:spPr>
      </p:sp>
      <p:sp>
        <p:nvSpPr>
          <p:cNvPr id="7" name="TextBox 7"/>
          <p:cNvSpPr txBox="1"/>
          <p:nvPr/>
        </p:nvSpPr>
        <p:spPr>
          <a:xfrm>
            <a:off x="13519729"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8" name="TextBox 8"/>
          <p:cNvSpPr txBox="1"/>
          <p:nvPr/>
        </p:nvSpPr>
        <p:spPr>
          <a:xfrm>
            <a:off x="11237226" y="1213269"/>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9" name="TextBox 9"/>
          <p:cNvSpPr txBox="1"/>
          <p:nvPr/>
        </p:nvSpPr>
        <p:spPr>
          <a:xfrm>
            <a:off x="15458039" y="1213269"/>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10" name="TextBox 10"/>
          <p:cNvSpPr txBox="1"/>
          <p:nvPr/>
        </p:nvSpPr>
        <p:spPr>
          <a:xfrm>
            <a:off x="1028700" y="923925"/>
            <a:ext cx="6076450" cy="953135"/>
          </a:xfrm>
          <a:prstGeom prst="rect">
            <a:avLst/>
          </a:prstGeom>
        </p:spPr>
        <p:txBody>
          <a:bodyPr lIns="0" tIns="0" rIns="0" bIns="0" rtlCol="0" anchor="t">
            <a:spAutoFit/>
          </a:bodyPr>
          <a:lstStyle/>
          <a:p>
            <a:pPr algn="l">
              <a:lnSpc>
                <a:spcPts val="7840"/>
              </a:lnSpc>
            </a:pPr>
            <a:r>
              <a:rPr lang="en-US" sz="5600">
                <a:solidFill>
                  <a:srgbClr val="C1E59F"/>
                </a:solidFill>
                <a:latin typeface="Anton"/>
                <a:ea typeface="Anton"/>
                <a:cs typeface="Anton"/>
                <a:sym typeface="Anton"/>
              </a:rPr>
              <a:t>ANALYSIS 3</a:t>
            </a:r>
          </a:p>
        </p:txBody>
      </p:sp>
      <p:sp>
        <p:nvSpPr>
          <p:cNvPr id="11" name="TextBox 11"/>
          <p:cNvSpPr txBox="1"/>
          <p:nvPr/>
        </p:nvSpPr>
        <p:spPr>
          <a:xfrm>
            <a:off x="11815968" y="2787460"/>
            <a:ext cx="6472032" cy="1690371"/>
          </a:xfrm>
          <a:prstGeom prst="rect">
            <a:avLst/>
          </a:prstGeom>
        </p:spPr>
        <p:txBody>
          <a:bodyPr lIns="0" tIns="0" rIns="0" bIns="0" rtlCol="0" anchor="t">
            <a:spAutoFit/>
          </a:bodyPr>
          <a:lstStyle/>
          <a:p>
            <a:pPr marL="690874" lvl="1" indent="-345437" algn="l">
              <a:lnSpc>
                <a:spcPts val="4479"/>
              </a:lnSpc>
              <a:buFont typeface="Arial"/>
              <a:buChar char="•"/>
            </a:pPr>
            <a:r>
              <a:rPr lang="en-US" sz="3199" b="1">
                <a:solidFill>
                  <a:srgbClr val="FFFFFF"/>
                </a:solidFill>
                <a:latin typeface="Arial Bold"/>
                <a:ea typeface="Arial Bold"/>
                <a:cs typeface="Arial Bold"/>
                <a:sym typeface="Arial Bold"/>
              </a:rPr>
              <a:t>Karyawan Single memiliki performa kerja yang baik dibanding yang lainnya.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sp>
        <p:nvSpPr>
          <p:cNvPr id="2" name="AutoShape 2"/>
          <p:cNvSpPr/>
          <p:nvPr/>
        </p:nvSpPr>
        <p:spPr>
          <a:xfrm>
            <a:off x="1028700" y="1911920"/>
            <a:ext cx="3258294" cy="0"/>
          </a:xfrm>
          <a:prstGeom prst="line">
            <a:avLst/>
          </a:prstGeom>
          <a:ln w="19050" cap="flat">
            <a:solidFill>
              <a:srgbClr val="FFFFFF"/>
            </a:solidFill>
            <a:prstDash val="solid"/>
            <a:headEnd type="none" w="sm" len="sm"/>
            <a:tailEnd type="none" w="sm" len="sm"/>
          </a:ln>
        </p:spPr>
      </p:sp>
      <p:sp>
        <p:nvSpPr>
          <p:cNvPr id="3" name="TextBox 3"/>
          <p:cNvSpPr txBox="1"/>
          <p:nvPr/>
        </p:nvSpPr>
        <p:spPr>
          <a:xfrm>
            <a:off x="1028700" y="923925"/>
            <a:ext cx="6085079" cy="953135"/>
          </a:xfrm>
          <a:prstGeom prst="rect">
            <a:avLst/>
          </a:prstGeom>
        </p:spPr>
        <p:txBody>
          <a:bodyPr lIns="0" tIns="0" rIns="0" bIns="0" rtlCol="0" anchor="t">
            <a:spAutoFit/>
          </a:bodyPr>
          <a:lstStyle/>
          <a:p>
            <a:pPr algn="l">
              <a:lnSpc>
                <a:spcPts val="7840"/>
              </a:lnSpc>
            </a:pPr>
            <a:r>
              <a:rPr lang="en-US" sz="5600">
                <a:solidFill>
                  <a:srgbClr val="C1E59F"/>
                </a:solidFill>
                <a:latin typeface="Anton"/>
                <a:ea typeface="Anton"/>
                <a:cs typeface="Anton"/>
                <a:sym typeface="Anton"/>
              </a:rPr>
              <a:t>CONCLUSION</a:t>
            </a:r>
          </a:p>
        </p:txBody>
      </p:sp>
      <p:grpSp>
        <p:nvGrpSpPr>
          <p:cNvPr id="4" name="Group 4"/>
          <p:cNvGrpSpPr/>
          <p:nvPr/>
        </p:nvGrpSpPr>
        <p:grpSpPr>
          <a:xfrm>
            <a:off x="13699262" y="942804"/>
            <a:ext cx="1280731" cy="661114"/>
            <a:chOff x="0" y="0"/>
            <a:chExt cx="337312" cy="174121"/>
          </a:xfrm>
        </p:grpSpPr>
        <p:sp>
          <p:nvSpPr>
            <p:cNvPr id="5" name="Freeform 5"/>
            <p:cNvSpPr/>
            <p:nvPr/>
          </p:nvSpPr>
          <p:spPr>
            <a:xfrm>
              <a:off x="0" y="0"/>
              <a:ext cx="337312" cy="174121"/>
            </a:xfrm>
            <a:custGeom>
              <a:avLst/>
              <a:gdLst/>
              <a:ahLst/>
              <a:cxnLst/>
              <a:rect l="l" t="t" r="r" b="b"/>
              <a:pathLst>
                <a:path w="337312" h="174121">
                  <a:moveTo>
                    <a:pt x="87060" y="0"/>
                  </a:moveTo>
                  <a:lnTo>
                    <a:pt x="250252" y="0"/>
                  </a:lnTo>
                  <a:cubicBezTo>
                    <a:pt x="273341" y="0"/>
                    <a:pt x="295486" y="9172"/>
                    <a:pt x="311813" y="25499"/>
                  </a:cubicBezTo>
                  <a:cubicBezTo>
                    <a:pt x="328139" y="41826"/>
                    <a:pt x="337312" y="63971"/>
                    <a:pt x="337312" y="87060"/>
                  </a:cubicBezTo>
                  <a:lnTo>
                    <a:pt x="337312" y="87060"/>
                  </a:lnTo>
                  <a:cubicBezTo>
                    <a:pt x="337312" y="135142"/>
                    <a:pt x="298334" y="174121"/>
                    <a:pt x="250252" y="174121"/>
                  </a:cubicBezTo>
                  <a:lnTo>
                    <a:pt x="87060" y="174121"/>
                  </a:lnTo>
                  <a:cubicBezTo>
                    <a:pt x="38978" y="174121"/>
                    <a:pt x="0" y="135142"/>
                    <a:pt x="0" y="87060"/>
                  </a:cubicBezTo>
                  <a:lnTo>
                    <a:pt x="0" y="87060"/>
                  </a:lnTo>
                  <a:cubicBezTo>
                    <a:pt x="0" y="38978"/>
                    <a:pt x="38978" y="0"/>
                    <a:pt x="87060" y="0"/>
                  </a:cubicBezTo>
                  <a:close/>
                </a:path>
              </a:pathLst>
            </a:custGeom>
            <a:ln w="19050" cap="rnd">
              <a:solidFill>
                <a:srgbClr val="77B254"/>
              </a:solidFill>
              <a:prstDash val="solid"/>
              <a:round/>
            </a:ln>
          </p:spPr>
        </p:sp>
        <p:sp>
          <p:nvSpPr>
            <p:cNvPr id="6" name="TextBox 6"/>
            <p:cNvSpPr txBox="1"/>
            <p:nvPr/>
          </p:nvSpPr>
          <p:spPr>
            <a:xfrm>
              <a:off x="0" y="-38100"/>
              <a:ext cx="337312" cy="212221"/>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3830075" y="1083084"/>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8" name="TextBox 8"/>
          <p:cNvSpPr txBox="1"/>
          <p:nvPr/>
        </p:nvSpPr>
        <p:spPr>
          <a:xfrm>
            <a:off x="11547571" y="1083084"/>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9" name="TextBox 9"/>
          <p:cNvSpPr txBox="1"/>
          <p:nvPr/>
        </p:nvSpPr>
        <p:spPr>
          <a:xfrm>
            <a:off x="15768385" y="1083084"/>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10" name="TextBox 10"/>
          <p:cNvSpPr txBox="1"/>
          <p:nvPr/>
        </p:nvSpPr>
        <p:spPr>
          <a:xfrm>
            <a:off x="321111" y="3088655"/>
            <a:ext cx="17625272" cy="4797534"/>
          </a:xfrm>
          <a:prstGeom prst="rect">
            <a:avLst/>
          </a:prstGeom>
        </p:spPr>
        <p:txBody>
          <a:bodyPr lIns="0" tIns="0" rIns="0" bIns="0" rtlCol="0" anchor="t">
            <a:spAutoFit/>
          </a:bodyPr>
          <a:lstStyle/>
          <a:p>
            <a:pPr marL="835687" lvl="1" indent="-417843" algn="just">
              <a:lnSpc>
                <a:spcPts val="5418"/>
              </a:lnSpc>
              <a:spcBef>
                <a:spcPct val="0"/>
              </a:spcBef>
              <a:buFont typeface="Arial"/>
              <a:buChar char="•"/>
            </a:pPr>
            <a:r>
              <a:rPr lang="en-US" sz="3870">
                <a:solidFill>
                  <a:srgbClr val="FFFFFF"/>
                </a:solidFill>
                <a:latin typeface="Arial"/>
                <a:ea typeface="Arial"/>
                <a:cs typeface="Arial"/>
                <a:sym typeface="Arial"/>
              </a:rPr>
              <a:t>Performance karyawan menunjukkan variasi berdasarkan department dan karakteristik karyawan.</a:t>
            </a:r>
          </a:p>
          <a:p>
            <a:pPr marL="835687" lvl="1" indent="-417843" algn="just">
              <a:lnSpc>
                <a:spcPts val="5418"/>
              </a:lnSpc>
              <a:spcBef>
                <a:spcPct val="0"/>
              </a:spcBef>
              <a:buFont typeface="Arial"/>
              <a:buChar char="•"/>
            </a:pPr>
            <a:r>
              <a:rPr lang="en-US" sz="3870">
                <a:solidFill>
                  <a:srgbClr val="FFFFFF"/>
                </a:solidFill>
                <a:latin typeface="Arial"/>
                <a:ea typeface="Arial"/>
                <a:cs typeface="Arial"/>
                <a:sym typeface="Arial"/>
              </a:rPr>
              <a:t>Perbandingan employee status dan current employee rating memberikan konteks tambahan dalam memahami performance.</a:t>
            </a:r>
          </a:p>
          <a:p>
            <a:pPr marL="835687" lvl="1" indent="-417843" algn="just">
              <a:lnSpc>
                <a:spcPts val="5418"/>
              </a:lnSpc>
              <a:spcBef>
                <a:spcPct val="0"/>
              </a:spcBef>
              <a:buFont typeface="Arial"/>
              <a:buChar char="•"/>
            </a:pPr>
            <a:r>
              <a:rPr lang="en-US" sz="3870">
                <a:solidFill>
                  <a:srgbClr val="FFFFFF"/>
                </a:solidFill>
                <a:latin typeface="Arial"/>
                <a:ea typeface="Arial"/>
                <a:cs typeface="Arial"/>
                <a:sym typeface="Arial"/>
              </a:rPr>
              <a:t>Dashboard membantu perusahaan melakukan monitoring dan eksplorasi performance secara lebih mudah.</a:t>
            </a:r>
          </a:p>
          <a:p>
            <a:pPr algn="just">
              <a:lnSpc>
                <a:spcPts val="5418"/>
              </a:lnSpc>
              <a:spcBef>
                <a:spcPct val="0"/>
              </a:spcBef>
            </a:pPr>
            <a:endParaRPr lang="en-US" sz="3870">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sp>
        <p:nvSpPr>
          <p:cNvPr id="2" name="AutoShape 2"/>
          <p:cNvSpPr/>
          <p:nvPr/>
        </p:nvSpPr>
        <p:spPr>
          <a:xfrm>
            <a:off x="1028700" y="1911920"/>
            <a:ext cx="3616007" cy="0"/>
          </a:xfrm>
          <a:prstGeom prst="line">
            <a:avLst/>
          </a:prstGeom>
          <a:ln w="19050" cap="flat">
            <a:solidFill>
              <a:srgbClr val="FFFFFF"/>
            </a:solidFill>
            <a:prstDash val="solid"/>
            <a:headEnd type="none" w="sm" len="sm"/>
            <a:tailEnd type="none" w="sm" len="sm"/>
          </a:ln>
        </p:spPr>
      </p:sp>
      <p:grpSp>
        <p:nvGrpSpPr>
          <p:cNvPr id="3" name="Group 3"/>
          <p:cNvGrpSpPr/>
          <p:nvPr/>
        </p:nvGrpSpPr>
        <p:grpSpPr>
          <a:xfrm>
            <a:off x="13699262" y="942804"/>
            <a:ext cx="1280731" cy="661114"/>
            <a:chOff x="0" y="0"/>
            <a:chExt cx="337312" cy="174121"/>
          </a:xfrm>
        </p:grpSpPr>
        <p:sp>
          <p:nvSpPr>
            <p:cNvPr id="4" name="Freeform 4"/>
            <p:cNvSpPr/>
            <p:nvPr/>
          </p:nvSpPr>
          <p:spPr>
            <a:xfrm>
              <a:off x="0" y="0"/>
              <a:ext cx="337312" cy="174121"/>
            </a:xfrm>
            <a:custGeom>
              <a:avLst/>
              <a:gdLst/>
              <a:ahLst/>
              <a:cxnLst/>
              <a:rect l="l" t="t" r="r" b="b"/>
              <a:pathLst>
                <a:path w="337312" h="174121">
                  <a:moveTo>
                    <a:pt x="87060" y="0"/>
                  </a:moveTo>
                  <a:lnTo>
                    <a:pt x="250252" y="0"/>
                  </a:lnTo>
                  <a:cubicBezTo>
                    <a:pt x="273341" y="0"/>
                    <a:pt x="295486" y="9172"/>
                    <a:pt x="311813" y="25499"/>
                  </a:cubicBezTo>
                  <a:cubicBezTo>
                    <a:pt x="328139" y="41826"/>
                    <a:pt x="337312" y="63971"/>
                    <a:pt x="337312" y="87060"/>
                  </a:cubicBezTo>
                  <a:lnTo>
                    <a:pt x="337312" y="87060"/>
                  </a:lnTo>
                  <a:cubicBezTo>
                    <a:pt x="337312" y="135142"/>
                    <a:pt x="298334" y="174121"/>
                    <a:pt x="250252" y="174121"/>
                  </a:cubicBezTo>
                  <a:lnTo>
                    <a:pt x="87060" y="174121"/>
                  </a:lnTo>
                  <a:cubicBezTo>
                    <a:pt x="38978" y="174121"/>
                    <a:pt x="0" y="135142"/>
                    <a:pt x="0" y="87060"/>
                  </a:cubicBezTo>
                  <a:lnTo>
                    <a:pt x="0" y="87060"/>
                  </a:lnTo>
                  <a:cubicBezTo>
                    <a:pt x="0" y="38978"/>
                    <a:pt x="38978" y="0"/>
                    <a:pt x="87060" y="0"/>
                  </a:cubicBezTo>
                  <a:close/>
                </a:path>
              </a:pathLst>
            </a:custGeom>
            <a:ln w="19050" cap="rnd">
              <a:solidFill>
                <a:srgbClr val="77B254"/>
              </a:solidFill>
              <a:prstDash val="solid"/>
              <a:round/>
            </a:ln>
          </p:spPr>
        </p:sp>
        <p:sp>
          <p:nvSpPr>
            <p:cNvPr id="5" name="TextBox 5"/>
            <p:cNvSpPr txBox="1"/>
            <p:nvPr/>
          </p:nvSpPr>
          <p:spPr>
            <a:xfrm>
              <a:off x="0" y="-38100"/>
              <a:ext cx="337312" cy="212221"/>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3830075" y="1083084"/>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7" name="TextBox 7"/>
          <p:cNvSpPr txBox="1"/>
          <p:nvPr/>
        </p:nvSpPr>
        <p:spPr>
          <a:xfrm>
            <a:off x="11547571" y="1083084"/>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8" name="TextBox 8"/>
          <p:cNvSpPr txBox="1"/>
          <p:nvPr/>
        </p:nvSpPr>
        <p:spPr>
          <a:xfrm>
            <a:off x="15768385" y="1083084"/>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9" name="TextBox 9"/>
          <p:cNvSpPr txBox="1"/>
          <p:nvPr/>
        </p:nvSpPr>
        <p:spPr>
          <a:xfrm>
            <a:off x="1028700" y="923925"/>
            <a:ext cx="6085079" cy="953135"/>
          </a:xfrm>
          <a:prstGeom prst="rect">
            <a:avLst/>
          </a:prstGeom>
        </p:spPr>
        <p:txBody>
          <a:bodyPr lIns="0" tIns="0" rIns="0" bIns="0" rtlCol="0" anchor="t">
            <a:spAutoFit/>
          </a:bodyPr>
          <a:lstStyle/>
          <a:p>
            <a:pPr algn="l">
              <a:lnSpc>
                <a:spcPts val="7840"/>
              </a:lnSpc>
            </a:pPr>
            <a:r>
              <a:rPr lang="en-US" sz="5600">
                <a:solidFill>
                  <a:srgbClr val="C1E59F"/>
                </a:solidFill>
                <a:latin typeface="Anton"/>
                <a:ea typeface="Anton"/>
                <a:cs typeface="Anton"/>
                <a:sym typeface="Anton"/>
              </a:rPr>
              <a:t>RECOMMENDATIONS</a:t>
            </a:r>
          </a:p>
        </p:txBody>
      </p:sp>
      <p:sp>
        <p:nvSpPr>
          <p:cNvPr id="10" name="TextBox 10"/>
          <p:cNvSpPr txBox="1"/>
          <p:nvPr/>
        </p:nvSpPr>
        <p:spPr>
          <a:xfrm>
            <a:off x="1028700" y="1902395"/>
            <a:ext cx="9936276" cy="365760"/>
          </a:xfrm>
          <a:prstGeom prst="rect">
            <a:avLst/>
          </a:prstGeom>
        </p:spPr>
        <p:txBody>
          <a:bodyPr lIns="0" tIns="0" rIns="0" bIns="0" rtlCol="0" anchor="t">
            <a:spAutoFit/>
          </a:bodyPr>
          <a:lstStyle/>
          <a:p>
            <a:pPr algn="l">
              <a:lnSpc>
                <a:spcPts val="2940"/>
              </a:lnSpc>
            </a:pPr>
            <a:r>
              <a:rPr lang="en-US" sz="2100">
                <a:solidFill>
                  <a:srgbClr val="C1E59F"/>
                </a:solidFill>
                <a:latin typeface="Arial"/>
                <a:ea typeface="Arial"/>
                <a:cs typeface="Arial"/>
                <a:sym typeface="Arial"/>
              </a:rPr>
              <a:t>Based on the analysis results, the following actions are recommended:</a:t>
            </a:r>
          </a:p>
        </p:txBody>
      </p:sp>
      <p:sp>
        <p:nvSpPr>
          <p:cNvPr id="11" name="TextBox 11"/>
          <p:cNvSpPr txBox="1"/>
          <p:nvPr/>
        </p:nvSpPr>
        <p:spPr>
          <a:xfrm>
            <a:off x="1028700" y="3136137"/>
            <a:ext cx="13006220" cy="6309817"/>
          </a:xfrm>
          <a:prstGeom prst="rect">
            <a:avLst/>
          </a:prstGeom>
        </p:spPr>
        <p:txBody>
          <a:bodyPr lIns="0" tIns="0" rIns="0" bIns="0" rtlCol="0" anchor="t">
            <a:spAutoFit/>
          </a:bodyPr>
          <a:lstStyle/>
          <a:p>
            <a:pPr algn="just">
              <a:lnSpc>
                <a:spcPts val="4561"/>
              </a:lnSpc>
            </a:pPr>
            <a:r>
              <a:rPr lang="en-US" sz="3258">
                <a:solidFill>
                  <a:srgbClr val="FFFFFF"/>
                </a:solidFill>
                <a:latin typeface="Arial"/>
                <a:ea typeface="Arial"/>
                <a:cs typeface="Arial"/>
                <a:sym typeface="Arial"/>
              </a:rPr>
              <a:t>1. Performance Improvement</a:t>
            </a:r>
          </a:p>
          <a:p>
            <a:pPr algn="just">
              <a:lnSpc>
                <a:spcPts val="4561"/>
              </a:lnSpc>
            </a:pPr>
            <a:r>
              <a:rPr lang="en-US" sz="3258">
                <a:solidFill>
                  <a:srgbClr val="FFFFFF"/>
                </a:solidFill>
                <a:latin typeface="Arial"/>
                <a:ea typeface="Arial"/>
                <a:cs typeface="Arial"/>
                <a:sym typeface="Arial"/>
              </a:rPr>
              <a:t>  Melakukan evaluasi dan program pengembangan bagi karyawan atau department yang memiliki performance rendah.</a:t>
            </a:r>
          </a:p>
          <a:p>
            <a:pPr algn="just">
              <a:lnSpc>
                <a:spcPts val="4561"/>
              </a:lnSpc>
            </a:pPr>
            <a:r>
              <a:rPr lang="en-US" sz="3258">
                <a:solidFill>
                  <a:srgbClr val="FFFFFF"/>
                </a:solidFill>
                <a:latin typeface="Arial"/>
                <a:ea typeface="Arial"/>
                <a:cs typeface="Arial"/>
                <a:sym typeface="Arial"/>
              </a:rPr>
              <a:t>2. Regular Performance Monitoring</a:t>
            </a:r>
          </a:p>
          <a:p>
            <a:pPr algn="just">
              <a:lnSpc>
                <a:spcPts val="4561"/>
              </a:lnSpc>
            </a:pPr>
            <a:r>
              <a:rPr lang="en-US" sz="3258">
                <a:solidFill>
                  <a:srgbClr val="FFFFFF"/>
                </a:solidFill>
                <a:latin typeface="Arial"/>
                <a:ea typeface="Arial"/>
                <a:cs typeface="Arial"/>
                <a:sym typeface="Arial"/>
              </a:rPr>
              <a:t> Melakukan monitoring performance secara berkala untuk mengidentifikasi perubahan kinerja karyawan.</a:t>
            </a:r>
          </a:p>
          <a:p>
            <a:pPr algn="just">
              <a:lnSpc>
                <a:spcPts val="4561"/>
              </a:lnSpc>
            </a:pPr>
            <a:r>
              <a:rPr lang="en-US" sz="3258">
                <a:solidFill>
                  <a:srgbClr val="FFFFFF"/>
                </a:solidFill>
                <a:latin typeface="Arial"/>
                <a:ea typeface="Arial"/>
                <a:cs typeface="Arial"/>
                <a:sym typeface="Arial"/>
              </a:rPr>
              <a:t>3. Department Evaluation</a:t>
            </a:r>
          </a:p>
          <a:p>
            <a:pPr algn="just">
              <a:lnSpc>
                <a:spcPts val="4561"/>
              </a:lnSpc>
            </a:pPr>
            <a:r>
              <a:rPr lang="en-US" sz="3258">
                <a:solidFill>
                  <a:srgbClr val="FFFFFF"/>
                </a:solidFill>
                <a:latin typeface="Arial"/>
                <a:ea typeface="Arial"/>
                <a:cs typeface="Arial"/>
                <a:sym typeface="Arial"/>
              </a:rPr>
              <a:t>   Department dengan proporsi performance rendah yang relatif tinggi dapat dianalisis lebih lanjut untuk mengetahui faktor yang mungkin berkaitan dengan kondisi tersebut.</a:t>
            </a:r>
          </a:p>
          <a:p>
            <a:pPr algn="just">
              <a:lnSpc>
                <a:spcPts val="4561"/>
              </a:lnSpc>
              <a:spcBef>
                <a:spcPct val="0"/>
              </a:spcBef>
            </a:pPr>
            <a:endParaRPr lang="en-US" sz="3258">
              <a:solidFill>
                <a:srgbClr val="FFFF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3915">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5873477" y="959219"/>
            <a:ext cx="1280731" cy="661114"/>
            <a:chOff x="0" y="0"/>
            <a:chExt cx="337312" cy="174121"/>
          </a:xfrm>
        </p:grpSpPr>
        <p:sp>
          <p:nvSpPr>
            <p:cNvPr id="3" name="Freeform 3"/>
            <p:cNvSpPr/>
            <p:nvPr/>
          </p:nvSpPr>
          <p:spPr>
            <a:xfrm>
              <a:off x="0" y="0"/>
              <a:ext cx="337312" cy="174121"/>
            </a:xfrm>
            <a:custGeom>
              <a:avLst/>
              <a:gdLst/>
              <a:ahLst/>
              <a:cxnLst/>
              <a:rect l="l" t="t" r="r" b="b"/>
              <a:pathLst>
                <a:path w="337312" h="174121">
                  <a:moveTo>
                    <a:pt x="87060" y="0"/>
                  </a:moveTo>
                  <a:lnTo>
                    <a:pt x="250252" y="0"/>
                  </a:lnTo>
                  <a:cubicBezTo>
                    <a:pt x="273341" y="0"/>
                    <a:pt x="295486" y="9172"/>
                    <a:pt x="311813" y="25499"/>
                  </a:cubicBezTo>
                  <a:cubicBezTo>
                    <a:pt x="328139" y="41826"/>
                    <a:pt x="337312" y="63971"/>
                    <a:pt x="337312" y="87060"/>
                  </a:cubicBezTo>
                  <a:lnTo>
                    <a:pt x="337312" y="87060"/>
                  </a:lnTo>
                  <a:cubicBezTo>
                    <a:pt x="337312" y="135142"/>
                    <a:pt x="298334" y="174121"/>
                    <a:pt x="250252" y="174121"/>
                  </a:cubicBezTo>
                  <a:lnTo>
                    <a:pt x="87060" y="174121"/>
                  </a:lnTo>
                  <a:cubicBezTo>
                    <a:pt x="38978" y="174121"/>
                    <a:pt x="0" y="135142"/>
                    <a:pt x="0" y="87060"/>
                  </a:cubicBezTo>
                  <a:lnTo>
                    <a:pt x="0" y="87060"/>
                  </a:lnTo>
                  <a:cubicBezTo>
                    <a:pt x="0" y="38978"/>
                    <a:pt x="38978" y="0"/>
                    <a:pt x="87060" y="0"/>
                  </a:cubicBezTo>
                  <a:close/>
                </a:path>
              </a:pathLst>
            </a:custGeom>
            <a:ln w="19050" cap="rnd">
              <a:solidFill>
                <a:srgbClr val="77B254"/>
              </a:solidFill>
              <a:prstDash val="solid"/>
              <a:round/>
            </a:ln>
          </p:spPr>
        </p:sp>
        <p:sp>
          <p:nvSpPr>
            <p:cNvPr id="4" name="TextBox 4"/>
            <p:cNvSpPr txBox="1"/>
            <p:nvPr/>
          </p:nvSpPr>
          <p:spPr>
            <a:xfrm>
              <a:off x="0" y="-38100"/>
              <a:ext cx="337312" cy="212221"/>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594098" y="3665855"/>
            <a:ext cx="7099805" cy="1774189"/>
          </a:xfrm>
          <a:prstGeom prst="rect">
            <a:avLst/>
          </a:prstGeom>
        </p:spPr>
        <p:txBody>
          <a:bodyPr lIns="0" tIns="0" rIns="0" bIns="0" rtlCol="0" anchor="t">
            <a:spAutoFit/>
          </a:bodyPr>
          <a:lstStyle/>
          <a:p>
            <a:pPr algn="ctr">
              <a:lnSpc>
                <a:spcPts val="14560"/>
              </a:lnSpc>
            </a:pPr>
            <a:r>
              <a:rPr lang="en-US" sz="10400">
                <a:solidFill>
                  <a:srgbClr val="C1E59F"/>
                </a:solidFill>
                <a:latin typeface="Anton"/>
                <a:ea typeface="Anton"/>
                <a:cs typeface="Anton"/>
                <a:sym typeface="Anton"/>
              </a:rPr>
              <a:t>THANK YOU</a:t>
            </a:r>
          </a:p>
        </p:txBody>
      </p:sp>
      <p:sp>
        <p:nvSpPr>
          <p:cNvPr id="6" name="TextBox 6"/>
          <p:cNvSpPr txBox="1"/>
          <p:nvPr/>
        </p:nvSpPr>
        <p:spPr>
          <a:xfrm>
            <a:off x="13830075" y="1083084"/>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ABOUT</a:t>
            </a:r>
          </a:p>
        </p:txBody>
      </p:sp>
      <p:sp>
        <p:nvSpPr>
          <p:cNvPr id="7" name="TextBox 7"/>
          <p:cNvSpPr txBox="1"/>
          <p:nvPr/>
        </p:nvSpPr>
        <p:spPr>
          <a:xfrm>
            <a:off x="11547571" y="1083084"/>
            <a:ext cx="1019106"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HOME</a:t>
            </a:r>
          </a:p>
        </p:txBody>
      </p:sp>
      <p:sp>
        <p:nvSpPr>
          <p:cNvPr id="8" name="TextBox 8"/>
          <p:cNvSpPr txBox="1"/>
          <p:nvPr/>
        </p:nvSpPr>
        <p:spPr>
          <a:xfrm>
            <a:off x="15768385" y="1083084"/>
            <a:ext cx="1490915" cy="365760"/>
          </a:xfrm>
          <a:prstGeom prst="rect">
            <a:avLst/>
          </a:prstGeom>
        </p:spPr>
        <p:txBody>
          <a:bodyPr lIns="0" tIns="0" rIns="0" bIns="0" rtlCol="0" anchor="t">
            <a:spAutoFit/>
          </a:bodyPr>
          <a:lstStyle/>
          <a:p>
            <a:pPr algn="ctr">
              <a:lnSpc>
                <a:spcPts val="2940"/>
              </a:lnSpc>
            </a:pPr>
            <a:r>
              <a:rPr lang="en-US" sz="2100">
                <a:solidFill>
                  <a:srgbClr val="C1E59F"/>
                </a:solidFill>
                <a:latin typeface="Anton"/>
                <a:ea typeface="Anton"/>
                <a:cs typeface="Anton"/>
                <a:sym typeface="Anton"/>
              </a:rPr>
              <a:t>CONTACT</a:t>
            </a:r>
          </a:p>
        </p:txBody>
      </p:sp>
      <p:sp>
        <p:nvSpPr>
          <p:cNvPr id="9" name="TextBox 9"/>
          <p:cNvSpPr txBox="1"/>
          <p:nvPr/>
        </p:nvSpPr>
        <p:spPr>
          <a:xfrm>
            <a:off x="1028700" y="981075"/>
            <a:ext cx="3323970" cy="365760"/>
          </a:xfrm>
          <a:prstGeom prst="rect">
            <a:avLst/>
          </a:prstGeom>
        </p:spPr>
        <p:txBody>
          <a:bodyPr lIns="0" tIns="0" rIns="0" bIns="0" rtlCol="0" anchor="t">
            <a:spAutoFit/>
          </a:bodyPr>
          <a:lstStyle/>
          <a:p>
            <a:pPr algn="l">
              <a:lnSpc>
                <a:spcPts val="2940"/>
              </a:lnSpc>
            </a:pPr>
            <a:r>
              <a:rPr lang="en-US" sz="2100">
                <a:solidFill>
                  <a:srgbClr val="C1E59F"/>
                </a:solidFill>
                <a:latin typeface="Arial"/>
                <a:ea typeface="Arial"/>
                <a:cs typeface="Arial"/>
                <a:sym typeface="Arial"/>
              </a:rPr>
              <a:t>Ingoude Company</a:t>
            </a:r>
          </a:p>
        </p:txBody>
      </p:sp>
      <p:sp>
        <p:nvSpPr>
          <p:cNvPr id="10" name="TextBox 10"/>
          <p:cNvSpPr txBox="1"/>
          <p:nvPr/>
        </p:nvSpPr>
        <p:spPr>
          <a:xfrm>
            <a:off x="4962399" y="5287645"/>
            <a:ext cx="8363202" cy="1123315"/>
          </a:xfrm>
          <a:prstGeom prst="rect">
            <a:avLst/>
          </a:prstGeom>
        </p:spPr>
        <p:txBody>
          <a:bodyPr lIns="0" tIns="0" rIns="0" bIns="0" rtlCol="0" anchor="t">
            <a:spAutoFit/>
          </a:bodyPr>
          <a:lstStyle/>
          <a:p>
            <a:pPr algn="ctr">
              <a:lnSpc>
                <a:spcPts val="8959"/>
              </a:lnSpc>
            </a:pPr>
            <a:r>
              <a:rPr lang="en-US" sz="6399">
                <a:solidFill>
                  <a:srgbClr val="C1E59F"/>
                </a:solidFill>
                <a:latin typeface="Arial"/>
                <a:ea typeface="Arial"/>
                <a:cs typeface="Arial"/>
                <a:sym typeface="Arial"/>
              </a:rPr>
              <a:t>ANY QUESTION?</a:t>
            </a:r>
          </a:p>
        </p:txBody>
      </p:sp>
      <p:sp>
        <p:nvSpPr>
          <p:cNvPr id="11" name="TextBox 11"/>
          <p:cNvSpPr txBox="1"/>
          <p:nvPr/>
        </p:nvSpPr>
        <p:spPr>
          <a:xfrm>
            <a:off x="1028700" y="8883015"/>
            <a:ext cx="2698834" cy="365760"/>
          </a:xfrm>
          <a:prstGeom prst="rect">
            <a:avLst/>
          </a:prstGeom>
        </p:spPr>
        <p:txBody>
          <a:bodyPr lIns="0" tIns="0" rIns="0" bIns="0" rtlCol="0" anchor="t">
            <a:spAutoFit/>
          </a:bodyPr>
          <a:lstStyle/>
          <a:p>
            <a:pPr algn="l">
              <a:lnSpc>
                <a:spcPts val="2940"/>
              </a:lnSpc>
            </a:pPr>
            <a:r>
              <a:rPr lang="en-US" sz="2100">
                <a:solidFill>
                  <a:srgbClr val="C1E59F"/>
                </a:solidFill>
                <a:latin typeface="Arial"/>
                <a:ea typeface="Arial"/>
                <a:cs typeface="Arial"/>
                <a:sym typeface="Arial"/>
              </a:rPr>
              <a:t>@reallygreatsite</a:t>
            </a:r>
          </a:p>
        </p:txBody>
      </p:sp>
      <p:sp>
        <p:nvSpPr>
          <p:cNvPr id="12" name="TextBox 12"/>
          <p:cNvSpPr txBox="1"/>
          <p:nvPr/>
        </p:nvSpPr>
        <p:spPr>
          <a:xfrm>
            <a:off x="13626851" y="8883015"/>
            <a:ext cx="3632449" cy="365760"/>
          </a:xfrm>
          <a:prstGeom prst="rect">
            <a:avLst/>
          </a:prstGeom>
        </p:spPr>
        <p:txBody>
          <a:bodyPr lIns="0" tIns="0" rIns="0" bIns="0" rtlCol="0" anchor="t">
            <a:spAutoFit/>
          </a:bodyPr>
          <a:lstStyle/>
          <a:p>
            <a:pPr algn="r">
              <a:lnSpc>
                <a:spcPts val="2940"/>
              </a:lnSpc>
            </a:pPr>
            <a:r>
              <a:rPr lang="en-US" sz="2100">
                <a:solidFill>
                  <a:srgbClr val="C1E59F"/>
                </a:solidFill>
                <a:latin typeface="Arial"/>
                <a:ea typeface="Arial"/>
                <a:cs typeface="Arial"/>
                <a:sym typeface="Arial"/>
              </a:rPr>
              <a:t>www.reallygreatsite.com</a:t>
            </a:r>
          </a:p>
        </p:txBody>
      </p:sp>
      <p:sp>
        <p:nvSpPr>
          <p:cNvPr id="13" name="AutoShape 13"/>
          <p:cNvSpPr/>
          <p:nvPr/>
        </p:nvSpPr>
        <p:spPr>
          <a:xfrm>
            <a:off x="3727534" y="9089707"/>
            <a:ext cx="9899317" cy="0"/>
          </a:xfrm>
          <a:prstGeom prst="line">
            <a:avLst/>
          </a:prstGeom>
          <a:ln w="19050" cap="flat">
            <a:solidFill>
              <a:srgbClr val="77B254"/>
            </a:solidFill>
            <a:prstDash val="solid"/>
            <a:headEnd type="none" w="sm" len="sm"/>
            <a:tailEnd type="none" w="sm" len="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434</Words>
  <Application>Microsoft Office PowerPoint</Application>
  <PresentationFormat>Custom</PresentationFormat>
  <Paragraphs>102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Anton</vt:lpstr>
      <vt:lpstr>Arial</vt:lpstr>
      <vt:lpstr>Calibri</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Green Simple Illustrated Data Analyst Presentation</dc:title>
  <cp:lastModifiedBy>adelia ekarle waangsir</cp:lastModifiedBy>
  <cp:revision>2</cp:revision>
  <dcterms:created xsi:type="dcterms:W3CDTF">2006-08-16T00:00:00Z</dcterms:created>
  <dcterms:modified xsi:type="dcterms:W3CDTF">2026-08-17T16:23:59Z</dcterms:modified>
  <dc:identifier>DAHSeK515Vk</dc:identifier>
</cp:coreProperties>
</file>